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4" r:id="rId8"/>
    <p:sldId id="265" r:id="rId9"/>
    <p:sldId id="266"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63DFD-92A2-F336-60EA-F086181C51D1}" v="1" dt="2026-08-08T10:39:34.403"/>
    <p1510:client id="{E0A10491-C2FE-31DB-1843-B295295BA569}" v="96" dt="2026-08-08T11:46:17.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title.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2606040"/>
            <a:ext cx="6583680" cy="914400"/>
          </a:xfrm>
          <a:prstGeom prst="rect">
            <a:avLst/>
          </a:prstGeom>
          <a:noFill/>
        </p:spPr>
        <p:txBody>
          <a:bodyPr wrap="square" rtlCol="0" anchor="ctr"/>
          <a:lstStyle/>
          <a:p>
            <a:pPr marL="0" indent="0">
              <a:buNone/>
            </a:pPr>
            <a:r>
              <a:rPr lang="en-US" sz="4400" b="1" kern="0" spc="100">
                <a:solidFill>
                  <a:srgbClr val="16324A"/>
                </a:solidFill>
                <a:latin typeface="Calibri" panose="020F0502020204030204" pitchFamily="34" charset="0"/>
                <a:ea typeface="Calibri" panose="020F0502020204030204" pitchFamily="34" charset="-122"/>
                <a:cs typeface="Calibri" panose="020F0502020204030204" pitchFamily="34" charset="-120"/>
              </a:rPr>
              <a:t>CONVERSION CATALYST</a:t>
            </a:r>
            <a:endParaRPr lang="en-US" sz="4400"/>
          </a:p>
        </p:txBody>
      </p:sp>
      <p:sp>
        <p:nvSpPr>
          <p:cNvPr id="4" name="Text 1"/>
          <p:cNvSpPr/>
          <p:nvPr/>
        </p:nvSpPr>
        <p:spPr>
          <a:xfrm>
            <a:off x="640080" y="3520440"/>
            <a:ext cx="6400800" cy="502920"/>
          </a:xfrm>
          <a:prstGeom prst="rect">
            <a:avLst/>
          </a:prstGeom>
          <a:noFill/>
        </p:spPr>
        <p:txBody>
          <a:bodyPr wrap="square" rtlCol="0" anchor="ctr"/>
          <a:lstStyle/>
          <a:p>
            <a:pPr marL="0" indent="0">
              <a:buNone/>
            </a:pPr>
            <a:r>
              <a:rPr lang="en-US" sz="2000">
                <a:solidFill>
                  <a:srgbClr val="445366"/>
                </a:solidFill>
                <a:latin typeface="Calibri" panose="020F0502020204030204" pitchFamily="34" charset="0"/>
                <a:ea typeface="Calibri" panose="020F0502020204030204" pitchFamily="34" charset="-122"/>
                <a:cs typeface="Calibri" panose="020F0502020204030204" pitchFamily="34" charset="-120"/>
              </a:rPr>
              <a:t>Smart Lead Matching for Better Sales</a:t>
            </a:r>
            <a:endParaRPr lang="en-US" sz="2000"/>
          </a:p>
        </p:txBody>
      </p:sp>
      <p:sp>
        <p:nvSpPr>
          <p:cNvPr id="5" name="Text 2"/>
          <p:cNvSpPr/>
          <p:nvPr/>
        </p:nvSpPr>
        <p:spPr>
          <a:xfrm>
            <a:off x="640080" y="4114800"/>
            <a:ext cx="6400800" cy="365760"/>
          </a:xfrm>
          <a:prstGeom prst="rect">
            <a:avLst/>
          </a:prstGeom>
          <a:noFill/>
        </p:spPr>
        <p:txBody>
          <a:bodyPr wrap="square" rtlCol="0" anchor="ctr"/>
          <a:lstStyle/>
          <a:p>
            <a:pPr marL="0" indent="0">
              <a:buNone/>
            </a:pPr>
            <a:r>
              <a:rPr lang="en-US" sz="1300" b="1" kern="0" spc="100">
                <a:solidFill>
                  <a:srgbClr val="4D8CD1"/>
                </a:solidFill>
                <a:latin typeface="Calibri" panose="020F0502020204030204" pitchFamily="34" charset="0"/>
                <a:ea typeface="Calibri" panose="020F0502020204030204" pitchFamily="34" charset="-122"/>
                <a:cs typeface="Calibri" panose="020F0502020204030204" pitchFamily="34" charset="-120"/>
              </a:rPr>
              <a:t>Team Data Dynamos  |  Hackathon Prototype 2026</a:t>
            </a:r>
            <a:endParaRPr lang="en-US" sz="1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43000" y="502920"/>
            <a:ext cx="7315200" cy="320040"/>
          </a:xfrm>
          <a:prstGeom prst="rect">
            <a:avLst/>
          </a:prstGeom>
          <a:noFill/>
        </p:spPr>
        <p:txBody>
          <a:bodyPr wrap="square" rtlCol="0" anchor="ctr"/>
          <a:lstStyle/>
          <a:p>
            <a:pPr marL="0" indent="0">
              <a:buNone/>
            </a:pPr>
            <a:r>
              <a:rPr lang="en-US" sz="1300" b="1" kern="0" spc="200">
                <a:solidFill>
                  <a:srgbClr val="4D8CD1"/>
                </a:solidFill>
                <a:latin typeface="Calibri" panose="020F0502020204030204" pitchFamily="34" charset="0"/>
                <a:ea typeface="Calibri" panose="020F0502020204030204" pitchFamily="34" charset="-122"/>
                <a:cs typeface="Calibri" panose="020F0502020204030204" pitchFamily="34" charset="-120"/>
              </a:rPr>
              <a:t>THE PROBLEM</a:t>
            </a:r>
            <a:endParaRPr lang="en-US" sz="1300"/>
          </a:p>
        </p:txBody>
      </p:sp>
      <p:sp>
        <p:nvSpPr>
          <p:cNvPr id="4" name="Text 1"/>
          <p:cNvSpPr/>
          <p:nvPr/>
        </p:nvSpPr>
        <p:spPr>
          <a:xfrm>
            <a:off x="1143000" y="777240"/>
            <a:ext cx="8686800" cy="640080"/>
          </a:xfrm>
          <a:prstGeom prst="rect">
            <a:avLst/>
          </a:prstGeom>
          <a:noFill/>
        </p:spPr>
        <p:txBody>
          <a:bodyPr wrap="square" rtlCol="0" anchor="ctr"/>
          <a:lstStyle/>
          <a:p>
            <a:pPr marL="0" indent="0">
              <a:buNone/>
            </a:pPr>
            <a:r>
              <a:rPr lang="en-US" sz="3000" b="1">
                <a:solidFill>
                  <a:srgbClr val="16324A"/>
                </a:solidFill>
                <a:latin typeface="Calibri" panose="020F0502020204030204" pitchFamily="34" charset="0"/>
                <a:ea typeface="Calibri" panose="020F0502020204030204" pitchFamily="34" charset="-122"/>
                <a:cs typeface="Calibri" panose="020F0502020204030204" pitchFamily="34" charset="-120"/>
              </a:rPr>
              <a:t>The Current Issue: Blind Assignment</a:t>
            </a:r>
            <a:endParaRPr lang="en-US" sz="3000"/>
          </a:p>
        </p:txBody>
      </p:sp>
      <p:sp>
        <p:nvSpPr>
          <p:cNvPr id="5" name="Shape 2"/>
          <p:cNvSpPr/>
          <p:nvPr/>
        </p:nvSpPr>
        <p:spPr>
          <a:xfrm>
            <a:off x="640080" y="1737360"/>
            <a:ext cx="5074920" cy="4114800"/>
          </a:xfrm>
          <a:prstGeom prst="roundRect">
            <a:avLst>
              <a:gd name="adj" fmla="val 1778"/>
            </a:avLst>
          </a:prstGeom>
          <a:solidFill>
            <a:srgbClr val="FFFFFF"/>
          </a:solidFill>
          <a:ln w="12700">
            <a:solidFill>
              <a:srgbClr val="DAE3F4"/>
            </a:solidFill>
            <a:prstDash val="solid"/>
          </a:ln>
          <a:effectLst>
            <a:outerShdw blurRad="101600" dist="38100" dir="5400000" algn="bl" rotWithShape="0">
              <a:srgbClr val="000000">
                <a:alpha val="15000"/>
              </a:srgbClr>
            </a:outerShdw>
          </a:effectLst>
        </p:spPr>
      </p:sp>
      <p:sp>
        <p:nvSpPr>
          <p:cNvPr id="6" name="Shape 3"/>
          <p:cNvSpPr/>
          <p:nvPr/>
        </p:nvSpPr>
        <p:spPr>
          <a:xfrm>
            <a:off x="960120" y="2057400"/>
            <a:ext cx="502920" cy="502920"/>
          </a:xfrm>
          <a:prstGeom prst="ellipse">
            <a:avLst/>
          </a:prstGeom>
          <a:solidFill>
            <a:srgbClr val="DAE3F4"/>
          </a:solidFill>
        </p:spPr>
      </p:sp>
      <p:sp>
        <p:nvSpPr>
          <p:cNvPr id="7" name="Text 4"/>
          <p:cNvSpPr/>
          <p:nvPr/>
        </p:nvSpPr>
        <p:spPr>
          <a:xfrm>
            <a:off x="960120" y="2057400"/>
            <a:ext cx="502920" cy="502920"/>
          </a:xfrm>
          <a:prstGeom prst="rect">
            <a:avLst/>
          </a:prstGeom>
          <a:noFill/>
        </p:spPr>
        <p:txBody>
          <a:bodyPr wrap="square" rtlCol="0" anchor="ctr"/>
          <a:lstStyle/>
          <a:p>
            <a:pPr marL="0" indent="0" algn="ctr">
              <a:buNone/>
            </a:pPr>
            <a:r>
              <a:rPr lang="en-US" sz="2200" b="1">
                <a:solidFill>
                  <a:srgbClr val="16324A"/>
                </a:solidFill>
              </a:rPr>
              <a:t>!</a:t>
            </a:r>
            <a:endParaRPr lang="en-US" sz="2200"/>
          </a:p>
        </p:txBody>
      </p:sp>
      <p:sp>
        <p:nvSpPr>
          <p:cNvPr id="8" name="Text 5"/>
          <p:cNvSpPr/>
          <p:nvPr/>
        </p:nvSpPr>
        <p:spPr>
          <a:xfrm>
            <a:off x="1600200" y="2084832"/>
            <a:ext cx="3931920" cy="457200"/>
          </a:xfrm>
          <a:prstGeom prst="rect">
            <a:avLst/>
          </a:prstGeom>
          <a:noFill/>
        </p:spPr>
        <p:txBody>
          <a:bodyPr wrap="square" rtlCol="0" anchor="ctr"/>
          <a:lstStyle/>
          <a:p>
            <a:pPr marL="0" indent="0">
              <a:buNone/>
            </a:pPr>
            <a:r>
              <a:rPr lang="en-US" sz="1700" b="1">
                <a:solidFill>
                  <a:srgbClr val="16324A"/>
                </a:solidFill>
                <a:latin typeface="Calibri" panose="020F0502020204030204" pitchFamily="34" charset="0"/>
                <a:ea typeface="Calibri" panose="020F0502020204030204" pitchFamily="34" charset="-122"/>
                <a:cs typeface="Calibri" panose="020F0502020204030204" pitchFamily="34" charset="-120"/>
              </a:rPr>
              <a:t>Random, Round-Robin Routing</a:t>
            </a:r>
            <a:endParaRPr lang="en-US" sz="1700"/>
          </a:p>
        </p:txBody>
      </p:sp>
      <p:sp>
        <p:nvSpPr>
          <p:cNvPr id="9" name="Text 6"/>
          <p:cNvSpPr/>
          <p:nvPr/>
        </p:nvSpPr>
        <p:spPr>
          <a:xfrm>
            <a:off x="960120" y="2697480"/>
            <a:ext cx="4572000" cy="1371600"/>
          </a:xfrm>
          <a:prstGeom prst="rect">
            <a:avLst/>
          </a:prstGeom>
          <a:noFill/>
        </p:spPr>
        <p:txBody>
          <a:bodyPr wrap="square" rtlCol="0" anchor="ctr"/>
          <a:lstStyle/>
          <a:p>
            <a:pPr marL="0" indent="0">
              <a:lnSpc>
                <a:spcPct val="125000"/>
              </a:lnSpc>
              <a:buNone/>
            </a:pPr>
            <a:r>
              <a:rPr lang="en-US" sz="1400">
                <a:solidFill>
                  <a:srgbClr val="445366"/>
                </a:solidFill>
                <a:latin typeface="Calibri" panose="020F0502020204030204" pitchFamily="34" charset="0"/>
                <a:ea typeface="Calibri" panose="020F0502020204030204" pitchFamily="34" charset="-122"/>
                <a:cs typeface="Calibri" panose="020F0502020204030204" pitchFamily="34" charset="-120"/>
              </a:rPr>
              <a:t>Infinity Learn gets thousands of leads daily, handled by over 600 sales managers. Right now, leads are handed out randomly or in a round-robin format.</a:t>
            </a:r>
            <a:endParaRPr lang="en-US" sz="1400"/>
          </a:p>
        </p:txBody>
      </p:sp>
      <p:sp>
        <p:nvSpPr>
          <p:cNvPr id="10" name="Shape 7"/>
          <p:cNvSpPr/>
          <p:nvPr/>
        </p:nvSpPr>
        <p:spPr>
          <a:xfrm>
            <a:off x="960120" y="4160520"/>
            <a:ext cx="4480560" cy="18288"/>
          </a:xfrm>
          <a:prstGeom prst="rect">
            <a:avLst/>
          </a:prstGeom>
          <a:solidFill>
            <a:srgbClr val="DAE3F4"/>
          </a:solidFill>
        </p:spPr>
      </p:sp>
      <p:sp>
        <p:nvSpPr>
          <p:cNvPr id="11" name="Text 8"/>
          <p:cNvSpPr/>
          <p:nvPr/>
        </p:nvSpPr>
        <p:spPr>
          <a:xfrm>
            <a:off x="960120" y="4343400"/>
            <a:ext cx="4572000" cy="1280160"/>
          </a:xfrm>
          <a:prstGeom prst="rect">
            <a:avLst/>
          </a:prstGeom>
          <a:noFill/>
        </p:spPr>
        <p:txBody>
          <a:bodyPr wrap="square" rtlCol="0" anchor="ctr"/>
          <a:lstStyle/>
          <a:p>
            <a:pPr marL="0" indent="0">
              <a:lnSpc>
                <a:spcPct val="125000"/>
              </a:lnSpc>
              <a:buNone/>
            </a:pPr>
            <a:r>
              <a:rPr lang="en-US" sz="1400" i="1">
                <a:solidFill>
                  <a:srgbClr val="16324A"/>
                </a:solidFill>
                <a:latin typeface="Calibri" panose="020F0502020204030204" pitchFamily="34" charset="0"/>
                <a:ea typeface="Calibri" panose="020F0502020204030204" pitchFamily="34" charset="-122"/>
                <a:cs typeface="Calibri" panose="020F0502020204030204" pitchFamily="34" charset="-120"/>
              </a:rPr>
              <a:t>The result: high-quality, high-intent leads are often handed to managers who are a poor fit for that specific customer.</a:t>
            </a:r>
            <a:endParaRPr lang="en-US" sz="1400"/>
          </a:p>
        </p:txBody>
      </p:sp>
      <p:sp>
        <p:nvSpPr>
          <p:cNvPr id="12" name="Shape 9"/>
          <p:cNvSpPr/>
          <p:nvPr/>
        </p:nvSpPr>
        <p:spPr>
          <a:xfrm>
            <a:off x="5943600" y="1737360"/>
            <a:ext cx="5623560" cy="4114800"/>
          </a:xfrm>
          <a:prstGeom prst="roundRect">
            <a:avLst>
              <a:gd name="adj" fmla="val 1778"/>
            </a:avLst>
          </a:prstGeom>
          <a:solidFill>
            <a:srgbClr val="16324A"/>
          </a:solidFill>
          <a:effectLst>
            <a:outerShdw blurRad="101600" dist="38100" dir="5400000" algn="bl" rotWithShape="0">
              <a:srgbClr val="000000">
                <a:alpha val="20000"/>
              </a:srgbClr>
            </a:outerShdw>
          </a:effectLst>
        </p:spPr>
      </p:sp>
      <p:sp>
        <p:nvSpPr>
          <p:cNvPr id="13" name="Text 10"/>
          <p:cNvSpPr/>
          <p:nvPr/>
        </p:nvSpPr>
        <p:spPr>
          <a:xfrm>
            <a:off x="6309360" y="2011680"/>
            <a:ext cx="4937760" cy="365760"/>
          </a:xfrm>
          <a:prstGeom prst="rect">
            <a:avLst/>
          </a:prstGeom>
          <a:noFill/>
        </p:spPr>
        <p:txBody>
          <a:bodyPr wrap="square" rtlCol="0" anchor="ctr"/>
          <a:lstStyle/>
          <a:p>
            <a:pPr marL="0" indent="0">
              <a:buNone/>
            </a:pPr>
            <a:r>
              <a:rPr lang="en-US" sz="1300" b="1" kern="0" spc="200">
                <a:solidFill>
                  <a:srgbClr val="F7D114"/>
                </a:solidFill>
                <a:latin typeface="Calibri" panose="020F0502020204030204" pitchFamily="34" charset="0"/>
                <a:ea typeface="Calibri" panose="020F0502020204030204" pitchFamily="34" charset="-122"/>
                <a:cs typeface="Calibri" panose="020F0502020204030204" pitchFamily="34" charset="-120"/>
              </a:rPr>
              <a:t>THE METRIC IMPACT</a:t>
            </a:r>
            <a:endParaRPr lang="en-US" sz="1300"/>
          </a:p>
        </p:txBody>
      </p:sp>
      <p:sp>
        <p:nvSpPr>
          <p:cNvPr id="14" name="Text 11"/>
          <p:cNvSpPr/>
          <p:nvPr/>
        </p:nvSpPr>
        <p:spPr>
          <a:xfrm>
            <a:off x="6309360" y="2423160"/>
            <a:ext cx="2377440" cy="1005840"/>
          </a:xfrm>
          <a:prstGeom prst="rect">
            <a:avLst/>
          </a:prstGeom>
          <a:noFill/>
        </p:spPr>
        <p:txBody>
          <a:bodyPr wrap="square" rtlCol="0" anchor="ctr"/>
          <a:lstStyle/>
          <a:p>
            <a:pPr marL="0" indent="0">
              <a:buNone/>
            </a:pPr>
            <a:r>
              <a:rPr lang="en-US" sz="6000" b="1">
                <a:solidFill>
                  <a:srgbClr val="FFFFFF"/>
                </a:solidFill>
                <a:latin typeface="Calibri" panose="020F0502020204030204" pitchFamily="34" charset="0"/>
                <a:ea typeface="Calibri" panose="020F0502020204030204" pitchFamily="34" charset="-122"/>
                <a:cs typeface="Calibri" panose="020F0502020204030204" pitchFamily="34" charset="-120"/>
              </a:rPr>
              <a:t>50</a:t>
            </a:r>
            <a:endParaRPr lang="en-US" sz="6000"/>
          </a:p>
        </p:txBody>
      </p:sp>
      <p:sp>
        <p:nvSpPr>
          <p:cNvPr id="15" name="Text 12"/>
          <p:cNvSpPr/>
          <p:nvPr/>
        </p:nvSpPr>
        <p:spPr>
          <a:xfrm>
            <a:off x="6309360" y="3429000"/>
            <a:ext cx="2743200" cy="594360"/>
          </a:xfrm>
          <a:prstGeom prst="rect">
            <a:avLst/>
          </a:prstGeom>
          <a:noFill/>
        </p:spPr>
        <p:txBody>
          <a:bodyPr wrap="square" rtlCol="0" anchor="ctr"/>
          <a:lstStyle/>
          <a:p>
            <a:pPr marL="0" indent="0">
              <a:lnSpc>
                <a:spcPct val="110000"/>
              </a:lnSpc>
              <a:buNone/>
            </a:pPr>
            <a:r>
              <a:rPr lang="en-US" sz="1300">
                <a:solidFill>
                  <a:srgbClr val="DAE3F4"/>
                </a:solidFill>
                <a:latin typeface="Calibri" panose="020F0502020204030204" pitchFamily="34" charset="0"/>
                <a:ea typeface="Calibri" panose="020F0502020204030204" pitchFamily="34" charset="-122"/>
                <a:cs typeface="Calibri" panose="020F0502020204030204" pitchFamily="34" charset="-120"/>
              </a:rPr>
              <a:t>leads / day</a:t>
            </a:r>
            <a:endParaRPr lang="en-US" sz="1300"/>
          </a:p>
          <a:p>
            <a:pPr marL="0" indent="0">
              <a:lnSpc>
                <a:spcPct val="110000"/>
              </a:lnSpc>
              <a:buNone/>
            </a:pPr>
            <a:r>
              <a:rPr lang="en-US" sz="1300">
                <a:solidFill>
                  <a:srgbClr val="DAE3F4"/>
                </a:solidFill>
                <a:latin typeface="Calibri" panose="020F0502020204030204" pitchFamily="34" charset="0"/>
                <a:ea typeface="Calibri" panose="020F0502020204030204" pitchFamily="34" charset="-122"/>
                <a:cs typeface="Calibri" panose="020F0502020204030204" pitchFamily="34" charset="-120"/>
              </a:rPr>
              <a:t>hard cap per manager</a:t>
            </a:r>
            <a:endParaRPr lang="en-US" sz="1300"/>
          </a:p>
        </p:txBody>
      </p:sp>
      <p:sp>
        <p:nvSpPr>
          <p:cNvPr id="16" name="Shape 13"/>
          <p:cNvSpPr/>
          <p:nvPr/>
        </p:nvSpPr>
        <p:spPr>
          <a:xfrm>
            <a:off x="6309360" y="4160520"/>
            <a:ext cx="4892040" cy="18288"/>
          </a:xfrm>
          <a:prstGeom prst="rect">
            <a:avLst/>
          </a:prstGeom>
          <a:solidFill>
            <a:srgbClr val="2C4A66"/>
          </a:solidFill>
        </p:spPr>
      </p:sp>
      <p:sp>
        <p:nvSpPr>
          <p:cNvPr id="17" name="Text 14"/>
          <p:cNvSpPr/>
          <p:nvPr/>
        </p:nvSpPr>
        <p:spPr>
          <a:xfrm>
            <a:off x="6309360" y="4389120"/>
            <a:ext cx="4892040" cy="1371600"/>
          </a:xfrm>
          <a:prstGeom prst="rect">
            <a:avLst/>
          </a:prstGeom>
          <a:noFill/>
        </p:spPr>
        <p:txBody>
          <a:bodyPr wrap="square" rtlCol="0" anchor="ctr"/>
          <a:lstStyle/>
          <a:p>
            <a:pPr marL="0" indent="0">
              <a:lnSpc>
                <a:spcPct val="130000"/>
              </a:lnSpc>
              <a:buNone/>
            </a:pPr>
            <a:r>
              <a:rPr lang="en-US" sz="1500">
                <a:solidFill>
                  <a:srgbClr val="FFFFFF"/>
                </a:solidFill>
                <a:latin typeface="Calibri" panose="020F0502020204030204" pitchFamily="34" charset="0"/>
                <a:ea typeface="Calibri" panose="020F0502020204030204" pitchFamily="34" charset="-122"/>
                <a:cs typeface="Calibri" panose="020F0502020204030204" pitchFamily="34" charset="-120"/>
              </a:rPr>
              <a:t>That fixed capacity is being wasted on mismatched leads — directly reducing the conversion rate of High (H) intent leads.</a:t>
            </a:r>
            <a:endParaRPr lang="en-US" sz="1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43000" y="502920"/>
            <a:ext cx="7315200" cy="320040"/>
          </a:xfrm>
          <a:prstGeom prst="rect">
            <a:avLst/>
          </a:prstGeom>
          <a:noFill/>
        </p:spPr>
        <p:txBody>
          <a:bodyPr wrap="square" rtlCol="0" anchor="ctr"/>
          <a:lstStyle/>
          <a:p>
            <a:pPr marL="0" indent="0">
              <a:buNone/>
            </a:pPr>
            <a:r>
              <a:rPr lang="en-US" sz="1300" b="1" kern="0" spc="200">
                <a:solidFill>
                  <a:srgbClr val="4D8CD1"/>
                </a:solidFill>
                <a:latin typeface="Calibri" panose="020F0502020204030204" pitchFamily="34" charset="0"/>
                <a:ea typeface="Calibri" panose="020F0502020204030204" pitchFamily="34" charset="-122"/>
                <a:cs typeface="Calibri" panose="020F0502020204030204" pitchFamily="34" charset="-120"/>
              </a:rPr>
              <a:t>THE SOLUTION</a:t>
            </a:r>
            <a:endParaRPr lang="en-US" sz="1300"/>
          </a:p>
        </p:txBody>
      </p:sp>
      <p:sp>
        <p:nvSpPr>
          <p:cNvPr id="4" name="Text 1"/>
          <p:cNvSpPr/>
          <p:nvPr/>
        </p:nvSpPr>
        <p:spPr>
          <a:xfrm>
            <a:off x="1143000" y="777240"/>
            <a:ext cx="8686800" cy="640080"/>
          </a:xfrm>
          <a:prstGeom prst="rect">
            <a:avLst/>
          </a:prstGeom>
          <a:noFill/>
        </p:spPr>
        <p:txBody>
          <a:bodyPr wrap="square" rtlCol="0" anchor="ctr"/>
          <a:lstStyle/>
          <a:p>
            <a:pPr marL="0" indent="0">
              <a:buNone/>
            </a:pPr>
            <a:r>
              <a:rPr lang="en-US" sz="3000" b="1">
                <a:solidFill>
                  <a:srgbClr val="16324A"/>
                </a:solidFill>
                <a:latin typeface="Calibri" panose="020F0502020204030204" pitchFamily="34" charset="0"/>
                <a:ea typeface="Calibri" panose="020F0502020204030204" pitchFamily="34" charset="-122"/>
                <a:cs typeface="Calibri" panose="020F0502020204030204" pitchFamily="34" charset="-120"/>
              </a:rPr>
              <a:t>Smart Matchmaking</a:t>
            </a:r>
            <a:endParaRPr lang="en-US" sz="3000"/>
          </a:p>
        </p:txBody>
      </p:sp>
      <p:sp>
        <p:nvSpPr>
          <p:cNvPr id="5" name="Text 2"/>
          <p:cNvSpPr/>
          <p:nvPr/>
        </p:nvSpPr>
        <p:spPr>
          <a:xfrm>
            <a:off x="640080" y="1600200"/>
            <a:ext cx="10881360" cy="640080"/>
          </a:xfrm>
          <a:prstGeom prst="rect">
            <a:avLst/>
          </a:prstGeom>
          <a:noFill/>
        </p:spPr>
        <p:txBody>
          <a:bodyPr wrap="square" rtlCol="0" anchor="ctr"/>
          <a:lstStyle/>
          <a:p>
            <a:pPr marL="0" indent="0">
              <a:lnSpc>
                <a:spcPct val="120000"/>
              </a:lnSpc>
              <a:buNone/>
            </a:pPr>
            <a:r>
              <a:rPr lang="en-US" sz="1500">
                <a:solidFill>
                  <a:srgbClr val="445366"/>
                </a:solidFill>
                <a:latin typeface="Calibri" panose="020F0502020204030204" pitchFamily="34" charset="0"/>
                <a:ea typeface="Calibri" panose="020F0502020204030204" pitchFamily="34" charset="-122"/>
                <a:cs typeface="Calibri" panose="020F0502020204030204" pitchFamily="34" charset="-120"/>
              </a:rPr>
              <a:t>We built an automated system that acts as a smart matchmaker, not a random dealer — using past data to predict exactly which manager has the highest chance of closing a specific lead.</a:t>
            </a:r>
            <a:endParaRPr lang="en-US" sz="1500"/>
          </a:p>
        </p:txBody>
      </p:sp>
      <p:sp>
        <p:nvSpPr>
          <p:cNvPr id="6" name="Shape 3"/>
          <p:cNvSpPr/>
          <p:nvPr/>
        </p:nvSpPr>
        <p:spPr>
          <a:xfrm>
            <a:off x="640080" y="2514600"/>
            <a:ext cx="5257800" cy="3383280"/>
          </a:xfrm>
          <a:prstGeom prst="roundRect">
            <a:avLst>
              <a:gd name="adj" fmla="val 2162"/>
            </a:avLst>
          </a:prstGeom>
          <a:solidFill>
            <a:srgbClr val="FFFFFF"/>
          </a:solidFill>
          <a:ln w="12700">
            <a:solidFill>
              <a:srgbClr val="DAE3F4"/>
            </a:solidFill>
            <a:prstDash val="solid"/>
          </a:ln>
          <a:effectLst>
            <a:outerShdw blurRad="101600" dist="38100" dir="5400000" algn="bl" rotWithShape="0">
              <a:srgbClr val="000000">
                <a:alpha val="15000"/>
              </a:srgbClr>
            </a:outerShdw>
          </a:effectLst>
        </p:spPr>
      </p:sp>
      <p:sp>
        <p:nvSpPr>
          <p:cNvPr id="7" name="Shape 4"/>
          <p:cNvSpPr/>
          <p:nvPr/>
        </p:nvSpPr>
        <p:spPr>
          <a:xfrm>
            <a:off x="1005840" y="2834640"/>
            <a:ext cx="822960" cy="822960"/>
          </a:xfrm>
          <a:prstGeom prst="ellipse">
            <a:avLst/>
          </a:prstGeom>
          <a:solidFill>
            <a:srgbClr val="16324A"/>
          </a:solidFill>
        </p:spPr>
      </p:sp>
      <p:sp>
        <p:nvSpPr>
          <p:cNvPr id="8" name="Text 5"/>
          <p:cNvSpPr/>
          <p:nvPr/>
        </p:nvSpPr>
        <p:spPr>
          <a:xfrm>
            <a:off x="1005840" y="2834640"/>
            <a:ext cx="822960" cy="822960"/>
          </a:xfrm>
          <a:prstGeom prst="rect">
            <a:avLst/>
          </a:prstGeom>
          <a:noFill/>
        </p:spPr>
        <p:txBody>
          <a:bodyPr wrap="square" rtlCol="0" anchor="ctr"/>
          <a:lstStyle/>
          <a:p>
            <a:pPr marL="0" indent="0" algn="ctr">
              <a:buNone/>
            </a:pPr>
            <a:r>
              <a:rPr lang="en-US" sz="2000" b="1">
                <a:solidFill>
                  <a:srgbClr val="F7D114"/>
                </a:solidFill>
                <a:latin typeface="Calibri" panose="020F0502020204030204" pitchFamily="34" charset="0"/>
                <a:ea typeface="Calibri" panose="020F0502020204030204" pitchFamily="34" charset="-122"/>
                <a:cs typeface="Calibri" panose="020F0502020204030204" pitchFamily="34" charset="-120"/>
              </a:rPr>
              <a:t>01</a:t>
            </a:r>
            <a:endParaRPr lang="en-US" sz="2000"/>
          </a:p>
        </p:txBody>
      </p:sp>
      <p:sp>
        <p:nvSpPr>
          <p:cNvPr id="9" name="Text 6"/>
          <p:cNvSpPr/>
          <p:nvPr/>
        </p:nvSpPr>
        <p:spPr>
          <a:xfrm>
            <a:off x="2057400" y="2999232"/>
            <a:ext cx="3657600" cy="502920"/>
          </a:xfrm>
          <a:prstGeom prst="rect">
            <a:avLst/>
          </a:prstGeom>
          <a:noFill/>
        </p:spPr>
        <p:txBody>
          <a:bodyPr wrap="square" rtlCol="0" anchor="ctr"/>
          <a:lstStyle/>
          <a:p>
            <a:pPr marL="0" indent="0">
              <a:buNone/>
            </a:pPr>
            <a:r>
              <a:rPr lang="en-US" sz="1900" b="1">
                <a:solidFill>
                  <a:srgbClr val="16324A"/>
                </a:solidFill>
                <a:latin typeface="Calibri" panose="020F0502020204030204" pitchFamily="34" charset="0"/>
                <a:ea typeface="Calibri" panose="020F0502020204030204" pitchFamily="34" charset="-122"/>
                <a:cs typeface="Calibri" panose="020F0502020204030204" pitchFamily="34" charset="-120"/>
              </a:rPr>
              <a:t>The Logic</a:t>
            </a:r>
            <a:endParaRPr lang="en-US" sz="1900"/>
          </a:p>
        </p:txBody>
      </p:sp>
      <p:sp>
        <p:nvSpPr>
          <p:cNvPr id="10" name="Text 7"/>
          <p:cNvSpPr/>
          <p:nvPr/>
        </p:nvSpPr>
        <p:spPr>
          <a:xfrm>
            <a:off x="1005840" y="3977640"/>
            <a:ext cx="4572000" cy="1737360"/>
          </a:xfrm>
          <a:prstGeom prst="rect">
            <a:avLst/>
          </a:prstGeom>
          <a:noFill/>
        </p:spPr>
        <p:txBody>
          <a:bodyPr wrap="square" rtlCol="0" anchor="ctr"/>
          <a:lstStyle/>
          <a:p>
            <a:pPr marL="0" indent="0">
              <a:lnSpc>
                <a:spcPct val="130000"/>
              </a:lnSpc>
              <a:buNone/>
            </a:pPr>
            <a:r>
              <a:rPr lang="en-US" sz="1400">
                <a:solidFill>
                  <a:srgbClr val="445366"/>
                </a:solidFill>
                <a:latin typeface="Calibri" panose="020F0502020204030204" pitchFamily="34" charset="0"/>
                <a:ea typeface="Calibri" panose="020F0502020204030204" pitchFamily="34" charset="-122"/>
                <a:cs typeface="Calibri" panose="020F0502020204030204" pitchFamily="34" charset="-120"/>
              </a:rPr>
              <a:t>The system looks at historical conversion rates, language matches, and geographic fit to score the best pairing between lead and manager.</a:t>
            </a:r>
            <a:endParaRPr lang="en-US" sz="1400"/>
          </a:p>
        </p:txBody>
      </p:sp>
      <p:sp>
        <p:nvSpPr>
          <p:cNvPr id="11" name="Shape 8"/>
          <p:cNvSpPr/>
          <p:nvPr/>
        </p:nvSpPr>
        <p:spPr>
          <a:xfrm>
            <a:off x="6263640" y="2514600"/>
            <a:ext cx="5257800" cy="3383280"/>
          </a:xfrm>
          <a:prstGeom prst="roundRect">
            <a:avLst>
              <a:gd name="adj" fmla="val 2162"/>
            </a:avLst>
          </a:prstGeom>
          <a:solidFill>
            <a:srgbClr val="FFFFFF"/>
          </a:solidFill>
          <a:ln w="12700">
            <a:solidFill>
              <a:srgbClr val="DAE3F4"/>
            </a:solidFill>
            <a:prstDash val="solid"/>
          </a:ln>
          <a:effectLst>
            <a:outerShdw blurRad="101600" dist="38100" dir="5400000" algn="bl" rotWithShape="0">
              <a:srgbClr val="000000">
                <a:alpha val="15000"/>
              </a:srgbClr>
            </a:outerShdw>
          </a:effectLst>
        </p:spPr>
      </p:sp>
      <p:sp>
        <p:nvSpPr>
          <p:cNvPr id="12" name="Shape 9"/>
          <p:cNvSpPr/>
          <p:nvPr/>
        </p:nvSpPr>
        <p:spPr>
          <a:xfrm>
            <a:off x="6629400" y="2834640"/>
            <a:ext cx="822960" cy="822960"/>
          </a:xfrm>
          <a:prstGeom prst="ellipse">
            <a:avLst/>
          </a:prstGeom>
          <a:solidFill>
            <a:srgbClr val="16324A"/>
          </a:solidFill>
        </p:spPr>
      </p:sp>
      <p:sp>
        <p:nvSpPr>
          <p:cNvPr id="13" name="Text 10"/>
          <p:cNvSpPr/>
          <p:nvPr/>
        </p:nvSpPr>
        <p:spPr>
          <a:xfrm>
            <a:off x="6629400" y="2834640"/>
            <a:ext cx="822960" cy="822960"/>
          </a:xfrm>
          <a:prstGeom prst="rect">
            <a:avLst/>
          </a:prstGeom>
          <a:noFill/>
        </p:spPr>
        <p:txBody>
          <a:bodyPr wrap="square" rtlCol="0" anchor="ctr"/>
          <a:lstStyle/>
          <a:p>
            <a:pPr marL="0" indent="0" algn="ctr">
              <a:buNone/>
            </a:pPr>
            <a:r>
              <a:rPr lang="en-US" sz="2000" b="1">
                <a:solidFill>
                  <a:srgbClr val="F7D114"/>
                </a:solidFill>
                <a:latin typeface="Calibri" panose="020F0502020204030204" pitchFamily="34" charset="0"/>
                <a:ea typeface="Calibri" panose="020F0502020204030204" pitchFamily="34" charset="-122"/>
                <a:cs typeface="Calibri" panose="020F0502020204030204" pitchFamily="34" charset="-120"/>
              </a:rPr>
              <a:t>02</a:t>
            </a:r>
            <a:endParaRPr lang="en-US" sz="2000"/>
          </a:p>
        </p:txBody>
      </p:sp>
      <p:sp>
        <p:nvSpPr>
          <p:cNvPr id="14" name="Text 11"/>
          <p:cNvSpPr/>
          <p:nvPr/>
        </p:nvSpPr>
        <p:spPr>
          <a:xfrm>
            <a:off x="7680960" y="2999232"/>
            <a:ext cx="3657600" cy="502920"/>
          </a:xfrm>
          <a:prstGeom prst="rect">
            <a:avLst/>
          </a:prstGeom>
          <a:noFill/>
        </p:spPr>
        <p:txBody>
          <a:bodyPr wrap="square" rtlCol="0" anchor="ctr"/>
          <a:lstStyle/>
          <a:p>
            <a:pPr marL="0" indent="0">
              <a:buNone/>
            </a:pPr>
            <a:r>
              <a:rPr lang="en-US" sz="1900" b="1">
                <a:solidFill>
                  <a:srgbClr val="16324A"/>
                </a:solidFill>
                <a:latin typeface="Calibri" panose="020F0502020204030204" pitchFamily="34" charset="0"/>
                <a:ea typeface="Calibri" panose="020F0502020204030204" pitchFamily="34" charset="-122"/>
                <a:cs typeface="Calibri" panose="020F0502020204030204" pitchFamily="34" charset="-120"/>
              </a:rPr>
              <a:t>Fairness</a:t>
            </a:r>
            <a:endParaRPr lang="en-US" sz="1900"/>
          </a:p>
        </p:txBody>
      </p:sp>
      <p:sp>
        <p:nvSpPr>
          <p:cNvPr id="15" name="Text 12"/>
          <p:cNvSpPr/>
          <p:nvPr/>
        </p:nvSpPr>
        <p:spPr>
          <a:xfrm>
            <a:off x="6629400" y="3977640"/>
            <a:ext cx="4572000" cy="1737360"/>
          </a:xfrm>
          <a:prstGeom prst="rect">
            <a:avLst/>
          </a:prstGeom>
          <a:noFill/>
        </p:spPr>
        <p:txBody>
          <a:bodyPr wrap="square" rtlCol="0" anchor="ctr"/>
          <a:lstStyle/>
          <a:p>
            <a:pPr marL="0" indent="0">
              <a:lnSpc>
                <a:spcPct val="130000"/>
              </a:lnSpc>
              <a:buNone/>
            </a:pPr>
            <a:r>
              <a:rPr lang="en-US" altLang="en-US" sz="1400">
                <a:solidFill>
                  <a:srgbClr val="445366"/>
                </a:solidFill>
                <a:latin typeface="Calibri" panose="020F0502020204030204" pitchFamily="34" charset="0"/>
                <a:ea typeface="Calibri" panose="020F0502020204030204" pitchFamily="34" charset="-122"/>
                <a:cs typeface="Calibri" panose="020F0502020204030204" pitchFamily="34" charset="-120"/>
              </a:rPr>
              <a:t>No manager gets overloaded. Each manager can only handle 50 leads a day. If the best-fit manager for a lead has already hit that limit, the system automatically looks for the next best manager who still has room.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43000" y="502920"/>
            <a:ext cx="7315200" cy="320040"/>
          </a:xfrm>
          <a:prstGeom prst="rect">
            <a:avLst/>
          </a:prstGeom>
          <a:noFill/>
        </p:spPr>
        <p:txBody>
          <a:bodyPr wrap="square" rtlCol="0" anchor="ctr"/>
          <a:lstStyle/>
          <a:p>
            <a:pPr marL="0" indent="0">
              <a:buNone/>
            </a:pPr>
            <a:r>
              <a:rPr lang="en-US" sz="1300" b="1" kern="0" spc="200">
                <a:solidFill>
                  <a:srgbClr val="4D8CD1"/>
                </a:solidFill>
                <a:latin typeface="Calibri" panose="020F0502020204030204" pitchFamily="34" charset="0"/>
                <a:ea typeface="Calibri" panose="020F0502020204030204" pitchFamily="34" charset="-122"/>
                <a:cs typeface="Calibri" panose="020F0502020204030204" pitchFamily="34" charset="-120"/>
              </a:rPr>
              <a:t>THE MODEL</a:t>
            </a:r>
            <a:endParaRPr lang="en-US" sz="1300"/>
          </a:p>
        </p:txBody>
      </p:sp>
      <p:pic>
        <p:nvPicPr>
          <p:cNvPr id="4" name="Image 1" descr="/home/claude/assets/diag_features.png"/>
          <p:cNvPicPr>
            <a:picLocks noChangeAspect="1"/>
          </p:cNvPicPr>
          <p:nvPr/>
        </p:nvPicPr>
        <p:blipFill>
          <a:blip r:embed="rId4"/>
          <a:stretch>
            <a:fillRect/>
          </a:stretch>
        </p:blipFill>
        <p:spPr>
          <a:xfrm>
            <a:off x="2021974" y="914400"/>
            <a:ext cx="8147746" cy="5806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43000" y="502920"/>
            <a:ext cx="7315200" cy="320040"/>
          </a:xfrm>
          <a:prstGeom prst="rect">
            <a:avLst/>
          </a:prstGeom>
          <a:noFill/>
        </p:spPr>
        <p:txBody>
          <a:bodyPr wrap="square" rtlCol="0" anchor="ctr"/>
          <a:lstStyle/>
          <a:p>
            <a:pPr marL="0" indent="0">
              <a:buNone/>
            </a:pPr>
            <a:r>
              <a:rPr lang="en-US" sz="1300" b="1" kern="0" spc="200">
                <a:solidFill>
                  <a:srgbClr val="4D8CD1"/>
                </a:solidFill>
                <a:latin typeface="Calibri" panose="020F0502020204030204" pitchFamily="34" charset="0"/>
                <a:ea typeface="Calibri" panose="020F0502020204030204" pitchFamily="34" charset="-122"/>
                <a:cs typeface="Calibri" panose="020F0502020204030204" pitchFamily="34" charset="-120"/>
              </a:rPr>
              <a:t>THE ARCHITECTURE</a:t>
            </a:r>
            <a:endParaRPr lang="en-US" sz="1300"/>
          </a:p>
        </p:txBody>
      </p:sp>
      <p:sp>
        <p:nvSpPr>
          <p:cNvPr id="4" name="Text 1"/>
          <p:cNvSpPr/>
          <p:nvPr/>
        </p:nvSpPr>
        <p:spPr>
          <a:xfrm>
            <a:off x="1143000" y="777240"/>
            <a:ext cx="8686800" cy="640080"/>
          </a:xfrm>
          <a:prstGeom prst="rect">
            <a:avLst/>
          </a:prstGeom>
          <a:noFill/>
        </p:spPr>
        <p:txBody>
          <a:bodyPr wrap="square" rtlCol="0" anchor="ctr"/>
          <a:lstStyle/>
          <a:p>
            <a:pPr marL="0" indent="0">
              <a:buNone/>
            </a:pPr>
            <a:r>
              <a:rPr lang="en-US" sz="3000" b="1">
                <a:solidFill>
                  <a:srgbClr val="16324A"/>
                </a:solidFill>
                <a:latin typeface="Calibri" panose="020F0502020204030204" pitchFamily="34" charset="0"/>
                <a:ea typeface="Calibri" panose="020F0502020204030204" pitchFamily="34" charset="-122"/>
                <a:cs typeface="Calibri" panose="020F0502020204030204" pitchFamily="34" charset="-120"/>
              </a:rPr>
              <a:t>Under the Hood</a:t>
            </a:r>
            <a:endParaRPr lang="en-US" sz="3000"/>
          </a:p>
        </p:txBody>
      </p:sp>
      <p:sp>
        <p:nvSpPr>
          <p:cNvPr id="5" name="Shape 2"/>
          <p:cNvSpPr/>
          <p:nvPr/>
        </p:nvSpPr>
        <p:spPr>
          <a:xfrm>
            <a:off x="640080" y="1691640"/>
            <a:ext cx="10927080" cy="1133856"/>
          </a:xfrm>
          <a:prstGeom prst="roundRect">
            <a:avLst>
              <a:gd name="adj" fmla="val 5645"/>
            </a:avLst>
          </a:prstGeom>
          <a:solidFill>
            <a:srgbClr val="FFFFFF"/>
          </a:solidFill>
          <a:ln w="12700">
            <a:solidFill>
              <a:srgbClr val="DAE3F4"/>
            </a:solidFill>
            <a:prstDash val="solid"/>
          </a:ln>
          <a:effectLst>
            <a:outerShdw blurRad="76200" dist="25400" dir="5400000" algn="bl" rotWithShape="0">
              <a:srgbClr val="000000">
                <a:alpha val="12000"/>
              </a:srgbClr>
            </a:outerShdw>
          </a:effectLst>
        </p:spPr>
      </p:sp>
      <p:sp>
        <p:nvSpPr>
          <p:cNvPr id="6" name="Shape 3"/>
          <p:cNvSpPr/>
          <p:nvPr/>
        </p:nvSpPr>
        <p:spPr>
          <a:xfrm>
            <a:off x="960120" y="1938528"/>
            <a:ext cx="640080" cy="640080"/>
          </a:xfrm>
          <a:prstGeom prst="ellipse">
            <a:avLst/>
          </a:prstGeom>
          <a:solidFill>
            <a:srgbClr val="16324A"/>
          </a:solidFill>
        </p:spPr>
      </p:sp>
      <p:sp>
        <p:nvSpPr>
          <p:cNvPr id="7" name="Text 4"/>
          <p:cNvSpPr/>
          <p:nvPr/>
        </p:nvSpPr>
        <p:spPr>
          <a:xfrm>
            <a:off x="960120" y="1938528"/>
            <a:ext cx="640080" cy="640080"/>
          </a:xfrm>
          <a:prstGeom prst="rect">
            <a:avLst/>
          </a:prstGeom>
          <a:noFill/>
        </p:spPr>
        <p:txBody>
          <a:bodyPr wrap="square" rtlCol="0" anchor="ctr"/>
          <a:lstStyle/>
          <a:p>
            <a:pPr marL="0" indent="0" algn="ctr">
              <a:buNone/>
            </a:pPr>
            <a:r>
              <a:rPr lang="en-US" sz="2000" b="1">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2000"/>
          </a:p>
        </p:txBody>
      </p:sp>
      <p:sp>
        <p:nvSpPr>
          <p:cNvPr id="8" name="Text 5"/>
          <p:cNvSpPr/>
          <p:nvPr/>
        </p:nvSpPr>
        <p:spPr>
          <a:xfrm>
            <a:off x="1874520" y="1801368"/>
            <a:ext cx="2377440" cy="914400"/>
          </a:xfrm>
          <a:prstGeom prst="rect">
            <a:avLst/>
          </a:prstGeom>
          <a:noFill/>
        </p:spPr>
        <p:txBody>
          <a:bodyPr wrap="square" rtlCol="0" anchor="ctr"/>
          <a:lstStyle/>
          <a:p>
            <a:pPr marL="0" indent="0">
              <a:buNone/>
            </a:pPr>
            <a:r>
              <a:rPr lang="en-US" sz="1600" b="1">
                <a:solidFill>
                  <a:srgbClr val="16324A"/>
                </a:solidFill>
                <a:latin typeface="Calibri" panose="020F0502020204030204" pitchFamily="34" charset="0"/>
                <a:ea typeface="Calibri" panose="020F0502020204030204" pitchFamily="34" charset="-122"/>
                <a:cs typeface="Calibri" panose="020F0502020204030204" pitchFamily="34" charset="-120"/>
              </a:rPr>
              <a:t>The Setup</a:t>
            </a:r>
            <a:endParaRPr lang="en-US" sz="1600"/>
          </a:p>
        </p:txBody>
      </p:sp>
      <p:sp>
        <p:nvSpPr>
          <p:cNvPr id="9" name="Text 6"/>
          <p:cNvSpPr/>
          <p:nvPr/>
        </p:nvSpPr>
        <p:spPr>
          <a:xfrm>
            <a:off x="4343400" y="1783080"/>
            <a:ext cx="6995160" cy="950976"/>
          </a:xfrm>
          <a:prstGeom prst="rect">
            <a:avLst/>
          </a:prstGeom>
          <a:noFill/>
        </p:spPr>
        <p:txBody>
          <a:bodyPr wrap="square" rtlCol="0" anchor="ctr"/>
          <a:lstStyle/>
          <a:p>
            <a:pPr marL="0" indent="0">
              <a:lnSpc>
                <a:spcPct val="115000"/>
              </a:lnSpc>
              <a:buNone/>
            </a:pPr>
            <a:r>
              <a:rPr lang="en-US" sz="1300">
                <a:solidFill>
                  <a:srgbClr val="445366"/>
                </a:solidFill>
                <a:latin typeface="Calibri" panose="020F0502020204030204" pitchFamily="34" charset="0"/>
                <a:ea typeface="Calibri" panose="020F0502020204030204" pitchFamily="34" charset="-122"/>
                <a:cs typeface="Calibri" panose="020F0502020204030204" pitchFamily="34" charset="-120"/>
              </a:rPr>
              <a:t>A fully automated pipeline built on AWS that runs every night at 4 AM.</a:t>
            </a:r>
            <a:endParaRPr lang="en-US" sz="1300"/>
          </a:p>
        </p:txBody>
      </p:sp>
      <p:sp>
        <p:nvSpPr>
          <p:cNvPr id="10" name="Shape 7"/>
          <p:cNvSpPr/>
          <p:nvPr/>
        </p:nvSpPr>
        <p:spPr>
          <a:xfrm>
            <a:off x="640080" y="2953512"/>
            <a:ext cx="10927080" cy="1133856"/>
          </a:xfrm>
          <a:prstGeom prst="roundRect">
            <a:avLst>
              <a:gd name="adj" fmla="val 5645"/>
            </a:avLst>
          </a:prstGeom>
          <a:solidFill>
            <a:srgbClr val="FFFFFF"/>
          </a:solidFill>
          <a:ln w="12700">
            <a:solidFill>
              <a:srgbClr val="DAE3F4"/>
            </a:solidFill>
            <a:prstDash val="solid"/>
          </a:ln>
          <a:effectLst>
            <a:outerShdw blurRad="76200" dist="25400" dir="5400000" algn="bl" rotWithShape="0">
              <a:srgbClr val="000000">
                <a:alpha val="12000"/>
              </a:srgbClr>
            </a:outerShdw>
          </a:effectLst>
        </p:spPr>
      </p:sp>
      <p:sp>
        <p:nvSpPr>
          <p:cNvPr id="11" name="Shape 8"/>
          <p:cNvSpPr/>
          <p:nvPr/>
        </p:nvSpPr>
        <p:spPr>
          <a:xfrm>
            <a:off x="960120" y="3200400"/>
            <a:ext cx="640080" cy="640080"/>
          </a:xfrm>
          <a:prstGeom prst="ellipse">
            <a:avLst/>
          </a:prstGeom>
          <a:solidFill>
            <a:srgbClr val="4D8CD1"/>
          </a:solidFill>
        </p:spPr>
      </p:sp>
      <p:sp>
        <p:nvSpPr>
          <p:cNvPr id="12" name="Text 9"/>
          <p:cNvSpPr/>
          <p:nvPr/>
        </p:nvSpPr>
        <p:spPr>
          <a:xfrm>
            <a:off x="960120" y="3200400"/>
            <a:ext cx="640080" cy="640080"/>
          </a:xfrm>
          <a:prstGeom prst="rect">
            <a:avLst/>
          </a:prstGeom>
          <a:noFill/>
        </p:spPr>
        <p:txBody>
          <a:bodyPr wrap="square" rtlCol="0" anchor="ctr"/>
          <a:lstStyle/>
          <a:p>
            <a:pPr marL="0" indent="0" algn="ctr">
              <a:buNone/>
            </a:pPr>
            <a:r>
              <a:rPr lang="en-US" sz="2000" b="1">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2000"/>
          </a:p>
        </p:txBody>
      </p:sp>
      <p:sp>
        <p:nvSpPr>
          <p:cNvPr id="13" name="Text 10"/>
          <p:cNvSpPr/>
          <p:nvPr/>
        </p:nvSpPr>
        <p:spPr>
          <a:xfrm>
            <a:off x="1874520" y="3063240"/>
            <a:ext cx="2377440" cy="914400"/>
          </a:xfrm>
          <a:prstGeom prst="rect">
            <a:avLst/>
          </a:prstGeom>
          <a:noFill/>
        </p:spPr>
        <p:txBody>
          <a:bodyPr wrap="square" rtlCol="0" anchor="ctr"/>
          <a:lstStyle/>
          <a:p>
            <a:pPr marL="0" indent="0">
              <a:buNone/>
            </a:pPr>
            <a:r>
              <a:rPr lang="en-US" sz="1600" b="1">
                <a:solidFill>
                  <a:srgbClr val="16324A"/>
                </a:solidFill>
                <a:latin typeface="Calibri" panose="020F0502020204030204" pitchFamily="34" charset="0"/>
                <a:ea typeface="Calibri" panose="020F0502020204030204" pitchFamily="34" charset="-122"/>
                <a:cs typeface="Calibri" panose="020F0502020204030204" pitchFamily="34" charset="-120"/>
              </a:rPr>
              <a:t>The Engine</a:t>
            </a:r>
            <a:endParaRPr lang="en-US" sz="1600"/>
          </a:p>
        </p:txBody>
      </p:sp>
      <p:sp>
        <p:nvSpPr>
          <p:cNvPr id="14" name="Text 11"/>
          <p:cNvSpPr/>
          <p:nvPr/>
        </p:nvSpPr>
        <p:spPr>
          <a:xfrm>
            <a:off x="4343400" y="3044952"/>
            <a:ext cx="6995160" cy="950976"/>
          </a:xfrm>
          <a:prstGeom prst="rect">
            <a:avLst/>
          </a:prstGeom>
          <a:noFill/>
        </p:spPr>
        <p:txBody>
          <a:bodyPr wrap="square" rtlCol="0" anchor="ctr"/>
          <a:lstStyle/>
          <a:p>
            <a:pPr marL="0" indent="0">
              <a:lnSpc>
                <a:spcPct val="115000"/>
              </a:lnSpc>
              <a:buNone/>
            </a:pPr>
            <a:r>
              <a:rPr lang="en-US" sz="1300">
                <a:solidFill>
                  <a:srgbClr val="445366"/>
                </a:solidFill>
                <a:latin typeface="Calibri" panose="020F0502020204030204" pitchFamily="34" charset="0"/>
                <a:ea typeface="Calibri" panose="020F0502020204030204" pitchFamily="34" charset="-122"/>
                <a:cs typeface="Calibri" panose="020F0502020204030204" pitchFamily="34" charset="-120"/>
              </a:rPr>
              <a:t>A machine learning model trained weekly on past sales data. It scores every new lead against every available manager.</a:t>
            </a:r>
            <a:endParaRPr lang="en-US" sz="1300"/>
          </a:p>
        </p:txBody>
      </p:sp>
      <p:sp>
        <p:nvSpPr>
          <p:cNvPr id="15" name="Shape 12"/>
          <p:cNvSpPr/>
          <p:nvPr/>
        </p:nvSpPr>
        <p:spPr>
          <a:xfrm>
            <a:off x="640080" y="4215384"/>
            <a:ext cx="10927080" cy="1133856"/>
          </a:xfrm>
          <a:prstGeom prst="roundRect">
            <a:avLst>
              <a:gd name="adj" fmla="val 5645"/>
            </a:avLst>
          </a:prstGeom>
          <a:solidFill>
            <a:srgbClr val="FFFFFF"/>
          </a:solidFill>
          <a:ln w="12700">
            <a:solidFill>
              <a:srgbClr val="DAE3F4"/>
            </a:solidFill>
            <a:prstDash val="solid"/>
          </a:ln>
          <a:effectLst>
            <a:outerShdw blurRad="76200" dist="25400" dir="5400000" algn="bl" rotWithShape="0">
              <a:srgbClr val="000000">
                <a:alpha val="12000"/>
              </a:srgbClr>
            </a:outerShdw>
          </a:effectLst>
        </p:spPr>
      </p:sp>
      <p:sp>
        <p:nvSpPr>
          <p:cNvPr id="16" name="Shape 13"/>
          <p:cNvSpPr/>
          <p:nvPr/>
        </p:nvSpPr>
        <p:spPr>
          <a:xfrm>
            <a:off x="960120" y="4462272"/>
            <a:ext cx="640080" cy="640080"/>
          </a:xfrm>
          <a:prstGeom prst="ellipse">
            <a:avLst/>
          </a:prstGeom>
          <a:solidFill>
            <a:srgbClr val="16324A"/>
          </a:solidFill>
        </p:spPr>
      </p:sp>
      <p:sp>
        <p:nvSpPr>
          <p:cNvPr id="17" name="Text 14"/>
          <p:cNvSpPr/>
          <p:nvPr/>
        </p:nvSpPr>
        <p:spPr>
          <a:xfrm>
            <a:off x="960120" y="4462272"/>
            <a:ext cx="640080" cy="640080"/>
          </a:xfrm>
          <a:prstGeom prst="rect">
            <a:avLst/>
          </a:prstGeom>
          <a:noFill/>
        </p:spPr>
        <p:txBody>
          <a:bodyPr wrap="square" rtlCol="0" anchor="ctr"/>
          <a:lstStyle/>
          <a:p>
            <a:pPr marL="0" indent="0" algn="ctr">
              <a:buNone/>
            </a:pPr>
            <a:r>
              <a:rPr lang="en-US" sz="2000" b="1">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2000"/>
          </a:p>
        </p:txBody>
      </p:sp>
      <p:sp>
        <p:nvSpPr>
          <p:cNvPr id="18" name="Text 15"/>
          <p:cNvSpPr/>
          <p:nvPr/>
        </p:nvSpPr>
        <p:spPr>
          <a:xfrm>
            <a:off x="1874520" y="4325112"/>
            <a:ext cx="2377440" cy="914400"/>
          </a:xfrm>
          <a:prstGeom prst="rect">
            <a:avLst/>
          </a:prstGeom>
          <a:noFill/>
        </p:spPr>
        <p:txBody>
          <a:bodyPr wrap="square" rtlCol="0" anchor="ctr"/>
          <a:lstStyle/>
          <a:p>
            <a:pPr marL="0" indent="0">
              <a:buNone/>
            </a:pPr>
            <a:r>
              <a:rPr lang="en-US" sz="1600" b="1">
                <a:solidFill>
                  <a:srgbClr val="16324A"/>
                </a:solidFill>
                <a:latin typeface="Calibri" panose="020F0502020204030204" pitchFamily="34" charset="0"/>
                <a:ea typeface="Calibri" panose="020F0502020204030204" pitchFamily="34" charset="-122"/>
                <a:cs typeface="Calibri" panose="020F0502020204030204" pitchFamily="34" charset="-120"/>
              </a:rPr>
              <a:t>The Integration</a:t>
            </a:r>
            <a:endParaRPr lang="en-US" sz="1600"/>
          </a:p>
        </p:txBody>
      </p:sp>
      <p:sp>
        <p:nvSpPr>
          <p:cNvPr id="19" name="Text 16"/>
          <p:cNvSpPr/>
          <p:nvPr/>
        </p:nvSpPr>
        <p:spPr>
          <a:xfrm>
            <a:off x="4343400" y="4306824"/>
            <a:ext cx="6995160" cy="950976"/>
          </a:xfrm>
          <a:prstGeom prst="rect">
            <a:avLst/>
          </a:prstGeom>
          <a:noFill/>
        </p:spPr>
        <p:txBody>
          <a:bodyPr wrap="square" rtlCol="0" anchor="ctr"/>
          <a:lstStyle/>
          <a:p>
            <a:pPr marL="0" indent="0">
              <a:lnSpc>
                <a:spcPct val="115000"/>
              </a:lnSpc>
              <a:buNone/>
            </a:pPr>
            <a:r>
              <a:rPr lang="en-US" sz="1300">
                <a:solidFill>
                  <a:srgbClr val="445366"/>
                </a:solidFill>
                <a:latin typeface="Calibri" panose="020F0502020204030204" pitchFamily="34" charset="0"/>
                <a:ea typeface="Calibri" panose="020F0502020204030204" pitchFamily="34" charset="-122"/>
                <a:cs typeface="Calibri" panose="020F0502020204030204" pitchFamily="34" charset="-120"/>
              </a:rPr>
              <a:t>Once matches are made, the system automatically pushes assignments into the LeadSquared CRM. Managers log in to find their best leads waiting.</a:t>
            </a:r>
            <a:endParaRPr lang="en-US" sz="1300"/>
          </a:p>
        </p:txBody>
      </p:sp>
      <p:sp>
        <p:nvSpPr>
          <p:cNvPr id="20" name="Shape 17"/>
          <p:cNvSpPr/>
          <p:nvPr/>
        </p:nvSpPr>
        <p:spPr>
          <a:xfrm>
            <a:off x="640080" y="5477256"/>
            <a:ext cx="10927080" cy="1133856"/>
          </a:xfrm>
          <a:prstGeom prst="roundRect">
            <a:avLst>
              <a:gd name="adj" fmla="val 5645"/>
            </a:avLst>
          </a:prstGeom>
          <a:solidFill>
            <a:srgbClr val="FFFFFF"/>
          </a:solidFill>
          <a:ln w="12700">
            <a:solidFill>
              <a:srgbClr val="DAE3F4"/>
            </a:solidFill>
            <a:prstDash val="solid"/>
          </a:ln>
          <a:effectLst>
            <a:outerShdw blurRad="76200" dist="25400" dir="5400000" algn="bl" rotWithShape="0">
              <a:srgbClr val="000000">
                <a:alpha val="12000"/>
              </a:srgbClr>
            </a:outerShdw>
          </a:effectLst>
        </p:spPr>
      </p:sp>
      <p:sp>
        <p:nvSpPr>
          <p:cNvPr id="21" name="Shape 18"/>
          <p:cNvSpPr/>
          <p:nvPr/>
        </p:nvSpPr>
        <p:spPr>
          <a:xfrm>
            <a:off x="960120" y="5724144"/>
            <a:ext cx="640080" cy="640080"/>
          </a:xfrm>
          <a:prstGeom prst="ellipse">
            <a:avLst/>
          </a:prstGeom>
          <a:solidFill>
            <a:srgbClr val="4D8CD1"/>
          </a:solidFill>
        </p:spPr>
      </p:sp>
      <p:sp>
        <p:nvSpPr>
          <p:cNvPr id="22" name="Text 19"/>
          <p:cNvSpPr/>
          <p:nvPr/>
        </p:nvSpPr>
        <p:spPr>
          <a:xfrm>
            <a:off x="960120" y="5724144"/>
            <a:ext cx="640080" cy="640080"/>
          </a:xfrm>
          <a:prstGeom prst="rect">
            <a:avLst/>
          </a:prstGeom>
          <a:noFill/>
        </p:spPr>
        <p:txBody>
          <a:bodyPr wrap="square" rtlCol="0" anchor="ctr"/>
          <a:lstStyle/>
          <a:p>
            <a:pPr marL="0" indent="0" algn="ctr">
              <a:buNone/>
            </a:pPr>
            <a:r>
              <a:rPr lang="en-US" sz="2000" b="1">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2000"/>
          </a:p>
        </p:txBody>
      </p:sp>
      <p:sp>
        <p:nvSpPr>
          <p:cNvPr id="23" name="Text 20"/>
          <p:cNvSpPr/>
          <p:nvPr/>
        </p:nvSpPr>
        <p:spPr>
          <a:xfrm>
            <a:off x="1874520" y="5586984"/>
            <a:ext cx="2377440" cy="914400"/>
          </a:xfrm>
          <a:prstGeom prst="rect">
            <a:avLst/>
          </a:prstGeom>
          <a:noFill/>
        </p:spPr>
        <p:txBody>
          <a:bodyPr wrap="square" rtlCol="0" anchor="ctr"/>
          <a:lstStyle/>
          <a:p>
            <a:pPr marL="0" indent="0">
              <a:buNone/>
            </a:pPr>
            <a:r>
              <a:rPr lang="en-US" sz="1600" b="1">
                <a:solidFill>
                  <a:srgbClr val="16324A"/>
                </a:solidFill>
                <a:latin typeface="Calibri" panose="020F0502020204030204" pitchFamily="34" charset="0"/>
                <a:ea typeface="Calibri" panose="020F0502020204030204" pitchFamily="34" charset="-122"/>
                <a:cs typeface="Calibri" panose="020F0502020204030204" pitchFamily="34" charset="-120"/>
              </a:rPr>
              <a:t>The Failsafe</a:t>
            </a:r>
            <a:endParaRPr lang="en-US" sz="1600"/>
          </a:p>
        </p:txBody>
      </p:sp>
      <p:sp>
        <p:nvSpPr>
          <p:cNvPr id="24" name="Text 21"/>
          <p:cNvSpPr/>
          <p:nvPr/>
        </p:nvSpPr>
        <p:spPr>
          <a:xfrm>
            <a:off x="4343400" y="5568696"/>
            <a:ext cx="6995160" cy="950976"/>
          </a:xfrm>
          <a:prstGeom prst="rect">
            <a:avLst/>
          </a:prstGeom>
          <a:noFill/>
        </p:spPr>
        <p:txBody>
          <a:bodyPr wrap="square" rtlCol="0" anchor="ctr"/>
          <a:lstStyle/>
          <a:p>
            <a:pPr marL="0" indent="0">
              <a:lnSpc>
                <a:spcPct val="115000"/>
              </a:lnSpc>
              <a:buNone/>
            </a:pPr>
            <a:r>
              <a:rPr lang="en-US" sz="1300">
                <a:solidFill>
                  <a:srgbClr val="445366"/>
                </a:solidFill>
                <a:latin typeface="Calibri" panose="020F0502020204030204" pitchFamily="34" charset="0"/>
                <a:ea typeface="Calibri" panose="020F0502020204030204" pitchFamily="34" charset="-122"/>
                <a:cs typeface="Calibri" panose="020F0502020204030204" pitchFamily="34" charset="-120"/>
              </a:rPr>
              <a:t>Any leftover leads are placed in a ranked pool where managers can manually claim them, ensuring zero leads are dropped.</a:t>
            </a:r>
            <a:endParaRPr lang="en-US" sz="1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43000" y="502920"/>
            <a:ext cx="7315200" cy="320040"/>
          </a:xfrm>
          <a:prstGeom prst="rect">
            <a:avLst/>
          </a:prstGeom>
          <a:noFill/>
        </p:spPr>
        <p:txBody>
          <a:bodyPr wrap="square" rtlCol="0" anchor="ctr"/>
          <a:lstStyle/>
          <a:p>
            <a:pPr marL="0" indent="0">
              <a:buNone/>
            </a:pPr>
            <a:r>
              <a:rPr lang="en-US" sz="1300" b="1" kern="0" spc="200">
                <a:solidFill>
                  <a:srgbClr val="4D8CD1"/>
                </a:solidFill>
                <a:latin typeface="Calibri" panose="020F0502020204030204" pitchFamily="34" charset="0"/>
                <a:ea typeface="Calibri" panose="020F0502020204030204" pitchFamily="34" charset="-122"/>
                <a:cs typeface="Calibri" panose="020F0502020204030204" pitchFamily="34" charset="-120"/>
              </a:rPr>
              <a:t>THE ARCHITECTURE</a:t>
            </a:r>
            <a:endParaRPr lang="en-US" sz="1300"/>
          </a:p>
        </p:txBody>
      </p:sp>
      <p:pic>
        <p:nvPicPr>
          <p:cNvPr id="4" name="Image 1" descr="/home/claude/assets/diag_arch.png"/>
          <p:cNvPicPr>
            <a:picLocks noChangeAspect="1"/>
          </p:cNvPicPr>
          <p:nvPr/>
        </p:nvPicPr>
        <p:blipFill>
          <a:blip r:embed="rId4"/>
          <a:stretch>
            <a:fillRect/>
          </a:stretch>
        </p:blipFill>
        <p:spPr>
          <a:xfrm>
            <a:off x="2218393" y="914400"/>
            <a:ext cx="7754910" cy="5806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43000" y="502920"/>
            <a:ext cx="7315200" cy="320040"/>
          </a:xfrm>
          <a:prstGeom prst="rect">
            <a:avLst/>
          </a:prstGeom>
          <a:noFill/>
        </p:spPr>
        <p:txBody>
          <a:bodyPr wrap="square" rtlCol="0" anchor="ctr"/>
          <a:lstStyle/>
          <a:p>
            <a:pPr marL="0" indent="0">
              <a:buNone/>
            </a:pPr>
            <a:r>
              <a:rPr lang="en-US" sz="1300" b="1" kern="0" spc="200">
                <a:solidFill>
                  <a:srgbClr val="4D8CD1"/>
                </a:solidFill>
                <a:latin typeface="Calibri" panose="020F0502020204030204" pitchFamily="34" charset="0"/>
                <a:ea typeface="Calibri" panose="020F0502020204030204" pitchFamily="34" charset="-122"/>
                <a:cs typeface="Calibri" panose="020F0502020204030204" pitchFamily="34" charset="-120"/>
              </a:rPr>
              <a:t>THE GUARDRAILS</a:t>
            </a:r>
            <a:endParaRPr lang="en-US" sz="1300"/>
          </a:p>
        </p:txBody>
      </p:sp>
      <p:pic>
        <p:nvPicPr>
          <p:cNvPr id="4" name="Image 1" descr="/home/claude/assets/diag_rules.png"/>
          <p:cNvPicPr>
            <a:picLocks noChangeAspect="1"/>
          </p:cNvPicPr>
          <p:nvPr/>
        </p:nvPicPr>
        <p:blipFill>
          <a:blip r:embed="rId4"/>
          <a:stretch>
            <a:fillRect/>
          </a:stretch>
        </p:blipFill>
        <p:spPr>
          <a:xfrm>
            <a:off x="1565262" y="904875"/>
            <a:ext cx="9061171" cy="5806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43000" y="502920"/>
            <a:ext cx="7315200" cy="320040"/>
          </a:xfrm>
          <a:prstGeom prst="rect">
            <a:avLst/>
          </a:prstGeom>
          <a:noFill/>
        </p:spPr>
        <p:txBody>
          <a:bodyPr wrap="square" rtlCol="0" anchor="ctr"/>
          <a:lstStyle/>
          <a:p>
            <a:pPr marL="0" indent="0">
              <a:buNone/>
            </a:pPr>
            <a:r>
              <a:rPr lang="en-US" sz="1300" b="1" kern="0" spc="200">
                <a:solidFill>
                  <a:srgbClr val="4D8CD1"/>
                </a:solidFill>
                <a:latin typeface="Calibri" panose="020F0502020204030204" pitchFamily="34" charset="0"/>
                <a:ea typeface="Calibri" panose="020F0502020204030204" pitchFamily="34" charset="-122"/>
                <a:cs typeface="Calibri" panose="020F0502020204030204" pitchFamily="34" charset="-120"/>
              </a:rPr>
              <a:t>WHY IT MATTERS</a:t>
            </a:r>
            <a:endParaRPr lang="en-US" sz="1300"/>
          </a:p>
        </p:txBody>
      </p:sp>
      <p:sp>
        <p:nvSpPr>
          <p:cNvPr id="4" name="Text 1"/>
          <p:cNvSpPr/>
          <p:nvPr/>
        </p:nvSpPr>
        <p:spPr>
          <a:xfrm>
            <a:off x="1143000" y="777240"/>
            <a:ext cx="8686800" cy="640080"/>
          </a:xfrm>
          <a:prstGeom prst="rect">
            <a:avLst/>
          </a:prstGeom>
          <a:noFill/>
        </p:spPr>
        <p:txBody>
          <a:bodyPr wrap="square" rtlCol="0" anchor="ctr"/>
          <a:lstStyle/>
          <a:p>
            <a:pPr marL="0" indent="0">
              <a:buNone/>
            </a:pPr>
            <a:r>
              <a:rPr lang="en-US" sz="3000" b="1">
                <a:solidFill>
                  <a:srgbClr val="16324A"/>
                </a:solidFill>
                <a:latin typeface="Calibri" panose="020F0502020204030204" pitchFamily="34" charset="0"/>
                <a:ea typeface="Calibri" panose="020F0502020204030204" pitchFamily="34" charset="-122"/>
                <a:cs typeface="Calibri" panose="020F0502020204030204" pitchFamily="34" charset="-120"/>
              </a:rPr>
              <a:t>Measurable Business Impact</a:t>
            </a:r>
            <a:endParaRPr lang="en-US" sz="3000"/>
          </a:p>
        </p:txBody>
      </p:sp>
      <p:sp>
        <p:nvSpPr>
          <p:cNvPr id="45" name="Shape 2"/>
          <p:cNvSpPr/>
          <p:nvPr/>
        </p:nvSpPr>
        <p:spPr>
          <a:xfrm>
            <a:off x="640080" y="1783080"/>
            <a:ext cx="2542032" cy="2514600"/>
          </a:xfrm>
          <a:prstGeom prst="roundRect">
            <a:avLst>
              <a:gd name="adj" fmla="val 2909"/>
            </a:avLst>
          </a:prstGeom>
          <a:solidFill>
            <a:srgbClr val="16324A"/>
          </a:solidFill>
          <a:effectLst>
            <a:outerShdw blurRad="88900" dist="38100" dir="5400000" algn="bl" rotWithShape="0">
              <a:srgbClr val="000000">
                <a:alpha val="18000"/>
              </a:srgbClr>
            </a:outerShdw>
          </a:effectLst>
        </p:spPr>
      </p:sp>
      <p:sp>
        <p:nvSpPr>
          <p:cNvPr id="46" name="Text 3"/>
          <p:cNvSpPr/>
          <p:nvPr/>
        </p:nvSpPr>
        <p:spPr>
          <a:xfrm>
            <a:off x="822960" y="1947672"/>
            <a:ext cx="2176272" cy="274320"/>
          </a:xfrm>
          <a:prstGeom prst="rect">
            <a:avLst/>
          </a:prstGeom>
          <a:noFill/>
        </p:spPr>
        <p:txBody>
          <a:bodyPr wrap="square" rtlCol="0" anchor="ctr"/>
          <a:lstStyle/>
          <a:p>
            <a:pPr marL="0" indent="0">
              <a:buNone/>
            </a:pPr>
            <a:r>
              <a:rPr lang="en-US" sz="1000" b="1" kern="0" spc="120">
                <a:solidFill>
                  <a:srgbClr val="F7D114"/>
                </a:solidFill>
                <a:latin typeface="Calibri" panose="020F0502020204030204" pitchFamily="34" charset="0"/>
                <a:ea typeface="Calibri" panose="020F0502020204030204" pitchFamily="34" charset="-122"/>
                <a:cs typeface="Calibri" panose="020F0502020204030204" pitchFamily="34" charset="-120"/>
              </a:rPr>
              <a:t>PROVEN TREND</a:t>
            </a:r>
            <a:endParaRPr lang="en-US" sz="1000"/>
          </a:p>
        </p:txBody>
      </p:sp>
      <p:sp>
        <p:nvSpPr>
          <p:cNvPr id="47" name="Text 4"/>
          <p:cNvSpPr/>
          <p:nvPr/>
        </p:nvSpPr>
        <p:spPr>
          <a:xfrm>
            <a:off x="822960" y="2240280"/>
            <a:ext cx="2176272" cy="658368"/>
          </a:xfrm>
          <a:prstGeom prst="rect">
            <a:avLst/>
          </a:prstGeom>
          <a:noFill/>
        </p:spPr>
        <p:txBody>
          <a:bodyPr wrap="square" rtlCol="0" anchor="t"/>
          <a:lstStyle/>
          <a:p>
            <a:pPr marL="0" indent="0">
              <a:buNone/>
            </a:pPr>
            <a:r>
              <a:rPr lang="en-US" sz="1500" b="1">
                <a:solidFill>
                  <a:srgbClr val="FFFFFF"/>
                </a:solidFill>
                <a:latin typeface="Calibri" panose="020F0502020204030204" pitchFamily="34" charset="0"/>
                <a:ea typeface="Calibri" panose="020F0502020204030204" pitchFamily="34" charset="-122"/>
                <a:cs typeface="Calibri" panose="020F0502020204030204" pitchFamily="34" charset="-120"/>
              </a:rPr>
              <a:t>Conversion Already Improved Once</a:t>
            </a:r>
            <a:endParaRPr lang="en-US" sz="1500"/>
          </a:p>
        </p:txBody>
      </p:sp>
      <p:sp>
        <p:nvSpPr>
          <p:cNvPr id="48" name="Text 5"/>
          <p:cNvSpPr/>
          <p:nvPr/>
        </p:nvSpPr>
        <p:spPr>
          <a:xfrm>
            <a:off x="822960" y="2953512"/>
            <a:ext cx="2176272" cy="1161288"/>
          </a:xfrm>
          <a:prstGeom prst="rect">
            <a:avLst/>
          </a:prstGeom>
          <a:noFill/>
        </p:spPr>
        <p:txBody>
          <a:bodyPr wrap="square" rtlCol="0" anchor="ctr"/>
          <a:lstStyle/>
          <a:p>
            <a:pPr marL="0" indent="0">
              <a:lnSpc>
                <a:spcPct val="122000"/>
              </a:lnSpc>
              <a:buNone/>
            </a:pPr>
            <a:r>
              <a:rPr lang="en-US" sz="1150">
                <a:solidFill>
                  <a:srgbClr val="FFFFFF"/>
                </a:solidFill>
                <a:latin typeface="Calibri" panose="020F0502020204030204" pitchFamily="34" charset="0"/>
                <a:ea typeface="Calibri" panose="020F0502020204030204" pitchFamily="34" charset="-122"/>
                <a:cs typeface="Calibri" panose="020F0502020204030204" pitchFamily="34" charset="-120"/>
              </a:rPr>
              <a:t>When Infinity Learn moved from unstructured assignment to HML-based allocation, conversion on these leads roughly tripled from ~1% to 2–3%. </a:t>
            </a:r>
            <a:endParaRPr lang="en-US" sz="1150"/>
          </a:p>
        </p:txBody>
      </p:sp>
      <p:sp>
        <p:nvSpPr>
          <p:cNvPr id="49" name="Shape 6"/>
          <p:cNvSpPr/>
          <p:nvPr/>
        </p:nvSpPr>
        <p:spPr>
          <a:xfrm>
            <a:off x="3346704" y="1783080"/>
            <a:ext cx="2542032" cy="2514600"/>
          </a:xfrm>
          <a:prstGeom prst="roundRect">
            <a:avLst>
              <a:gd name="adj" fmla="val 2909"/>
            </a:avLst>
          </a:prstGeom>
          <a:solidFill>
            <a:srgbClr val="4D8CD1"/>
          </a:solidFill>
          <a:effectLst>
            <a:outerShdw blurRad="88900" dist="38100" dir="5400000" algn="bl" rotWithShape="0">
              <a:srgbClr val="000000">
                <a:alpha val="18000"/>
              </a:srgbClr>
            </a:outerShdw>
          </a:effectLst>
        </p:spPr>
      </p:sp>
      <p:sp>
        <p:nvSpPr>
          <p:cNvPr id="50" name="Text 7"/>
          <p:cNvSpPr/>
          <p:nvPr/>
        </p:nvSpPr>
        <p:spPr>
          <a:xfrm>
            <a:off x="3529584" y="1947672"/>
            <a:ext cx="2176272" cy="274320"/>
          </a:xfrm>
          <a:prstGeom prst="rect">
            <a:avLst/>
          </a:prstGeom>
          <a:noFill/>
        </p:spPr>
        <p:txBody>
          <a:bodyPr wrap="square" rtlCol="0" anchor="ctr"/>
          <a:lstStyle/>
          <a:p>
            <a:pPr marL="0" indent="0">
              <a:buNone/>
            </a:pPr>
            <a:r>
              <a:rPr lang="en-US" sz="1000" b="1" kern="0" spc="120">
                <a:solidFill>
                  <a:srgbClr val="F7D114"/>
                </a:solidFill>
                <a:latin typeface="Calibri" panose="020F0502020204030204" pitchFamily="34" charset="0"/>
                <a:ea typeface="Calibri" panose="020F0502020204030204" pitchFamily="34" charset="-122"/>
                <a:cs typeface="Calibri" panose="020F0502020204030204" pitchFamily="34" charset="-120"/>
              </a:rPr>
              <a:t>PROTOTYPE-TESTED</a:t>
            </a:r>
            <a:endParaRPr lang="en-US" sz="1000"/>
          </a:p>
        </p:txBody>
      </p:sp>
      <p:sp>
        <p:nvSpPr>
          <p:cNvPr id="51" name="Text 8"/>
          <p:cNvSpPr/>
          <p:nvPr/>
        </p:nvSpPr>
        <p:spPr>
          <a:xfrm>
            <a:off x="3529584" y="2240280"/>
            <a:ext cx="2176272" cy="658368"/>
          </a:xfrm>
          <a:prstGeom prst="rect">
            <a:avLst/>
          </a:prstGeom>
          <a:noFill/>
        </p:spPr>
        <p:txBody>
          <a:bodyPr wrap="square" rtlCol="0" anchor="t"/>
          <a:lstStyle/>
          <a:p>
            <a:pPr marL="0" indent="0">
              <a:buNone/>
            </a:pPr>
            <a:r>
              <a:rPr lang="en-US" sz="1500" b="1">
                <a:solidFill>
                  <a:srgbClr val="FFFFFF"/>
                </a:solidFill>
                <a:latin typeface="Calibri" panose="020F0502020204030204" pitchFamily="34" charset="0"/>
                <a:ea typeface="Calibri" panose="020F0502020204030204" pitchFamily="34" charset="-122"/>
                <a:cs typeface="Calibri" panose="020F0502020204030204" pitchFamily="34" charset="-120"/>
              </a:rPr>
              <a:t>Fast &amp; Automated</a:t>
            </a:r>
            <a:endParaRPr lang="en-US" sz="1500"/>
          </a:p>
        </p:txBody>
      </p:sp>
      <p:sp>
        <p:nvSpPr>
          <p:cNvPr id="52" name="Text 9"/>
          <p:cNvSpPr/>
          <p:nvPr/>
        </p:nvSpPr>
        <p:spPr>
          <a:xfrm>
            <a:off x="3529584" y="2953512"/>
            <a:ext cx="2176272" cy="1161288"/>
          </a:xfrm>
          <a:prstGeom prst="rect">
            <a:avLst/>
          </a:prstGeom>
          <a:noFill/>
        </p:spPr>
        <p:txBody>
          <a:bodyPr wrap="square" rtlCol="0" anchor="ctr"/>
          <a:lstStyle/>
          <a:p>
            <a:pPr marL="0" indent="0">
              <a:lnSpc>
                <a:spcPct val="122000"/>
              </a:lnSpc>
              <a:buNone/>
            </a:pPr>
            <a:r>
              <a:rPr lang="en-US" sz="1150">
                <a:solidFill>
                  <a:srgbClr val="FFFFFF"/>
                </a:solidFill>
                <a:latin typeface="Calibri" panose="020F0502020204030204" pitchFamily="34" charset="0"/>
                <a:ea typeface="Calibri" panose="020F0502020204030204" pitchFamily="34" charset="-122"/>
                <a:cs typeface="Calibri" panose="020F0502020204030204" pitchFamily="34" charset="-120"/>
              </a:rPr>
              <a:t>The full pipeline runs end-to-end in under a minute on sample data, ingest, score, assign, and push, with no manual steps.</a:t>
            </a:r>
            <a:endParaRPr lang="en-US" sz="1150"/>
          </a:p>
        </p:txBody>
      </p:sp>
      <p:sp>
        <p:nvSpPr>
          <p:cNvPr id="53" name="Shape 10"/>
          <p:cNvSpPr/>
          <p:nvPr/>
        </p:nvSpPr>
        <p:spPr>
          <a:xfrm>
            <a:off x="6053328" y="1783080"/>
            <a:ext cx="2542032" cy="2514600"/>
          </a:xfrm>
          <a:prstGeom prst="roundRect">
            <a:avLst>
              <a:gd name="adj" fmla="val 2909"/>
            </a:avLst>
          </a:prstGeom>
          <a:solidFill>
            <a:srgbClr val="16324A"/>
          </a:solidFill>
          <a:effectLst>
            <a:outerShdw blurRad="88900" dist="38100" dir="5400000" algn="bl" rotWithShape="0">
              <a:srgbClr val="000000">
                <a:alpha val="18000"/>
              </a:srgbClr>
            </a:outerShdw>
          </a:effectLst>
        </p:spPr>
      </p:sp>
      <p:sp>
        <p:nvSpPr>
          <p:cNvPr id="54" name="Text 11"/>
          <p:cNvSpPr/>
          <p:nvPr/>
        </p:nvSpPr>
        <p:spPr>
          <a:xfrm>
            <a:off x="6236208" y="1947672"/>
            <a:ext cx="2176272" cy="274320"/>
          </a:xfrm>
          <a:prstGeom prst="rect">
            <a:avLst/>
          </a:prstGeom>
          <a:noFill/>
        </p:spPr>
        <p:txBody>
          <a:bodyPr wrap="square" rtlCol="0" anchor="ctr"/>
          <a:lstStyle/>
          <a:p>
            <a:pPr marL="0" indent="0">
              <a:buNone/>
            </a:pPr>
            <a:r>
              <a:rPr lang="en-US" sz="1000" b="1" kern="0" spc="120">
                <a:solidFill>
                  <a:srgbClr val="F7D114"/>
                </a:solidFill>
                <a:latin typeface="Calibri" panose="020F0502020204030204" pitchFamily="34" charset="0"/>
                <a:ea typeface="Calibri" panose="020F0502020204030204" pitchFamily="34" charset="-122"/>
                <a:cs typeface="Calibri" panose="020F0502020204030204" pitchFamily="34" charset="-120"/>
              </a:rPr>
              <a:t>BUILT-IN</a:t>
            </a:r>
            <a:endParaRPr lang="en-US" sz="1000"/>
          </a:p>
        </p:txBody>
      </p:sp>
      <p:sp>
        <p:nvSpPr>
          <p:cNvPr id="55" name="Text 12"/>
          <p:cNvSpPr/>
          <p:nvPr/>
        </p:nvSpPr>
        <p:spPr>
          <a:xfrm>
            <a:off x="6236208" y="2240280"/>
            <a:ext cx="2176272" cy="658368"/>
          </a:xfrm>
          <a:prstGeom prst="rect">
            <a:avLst/>
          </a:prstGeom>
          <a:noFill/>
        </p:spPr>
        <p:txBody>
          <a:bodyPr wrap="square" rtlCol="0" anchor="t"/>
          <a:lstStyle/>
          <a:p>
            <a:pPr marL="0" indent="0">
              <a:buNone/>
            </a:pPr>
            <a:r>
              <a:rPr lang="en-US" sz="1500" b="1">
                <a:solidFill>
                  <a:srgbClr val="FFFFFF"/>
                </a:solidFill>
                <a:latin typeface="Calibri" panose="020F0502020204030204" pitchFamily="34" charset="0"/>
                <a:ea typeface="Calibri" panose="020F0502020204030204" pitchFamily="34" charset="-122"/>
                <a:cs typeface="Calibri" panose="020F0502020204030204" pitchFamily="34" charset="-120"/>
              </a:rPr>
              <a:t>Fully Explainable</a:t>
            </a:r>
            <a:endParaRPr lang="en-US" sz="1500"/>
          </a:p>
        </p:txBody>
      </p:sp>
      <p:sp>
        <p:nvSpPr>
          <p:cNvPr id="56" name="Text 13"/>
          <p:cNvSpPr/>
          <p:nvPr/>
        </p:nvSpPr>
        <p:spPr>
          <a:xfrm>
            <a:off x="6236208" y="2953512"/>
            <a:ext cx="2176272" cy="1161288"/>
          </a:xfrm>
          <a:prstGeom prst="rect">
            <a:avLst/>
          </a:prstGeom>
          <a:noFill/>
        </p:spPr>
        <p:txBody>
          <a:bodyPr wrap="square" rtlCol="0" anchor="ctr"/>
          <a:lstStyle/>
          <a:p>
            <a:pPr marL="0" indent="0">
              <a:lnSpc>
                <a:spcPct val="122000"/>
              </a:lnSpc>
              <a:buNone/>
            </a:pPr>
            <a:r>
              <a:rPr lang="en-US" sz="1150">
                <a:solidFill>
                  <a:srgbClr val="FFFFFF"/>
                </a:solidFill>
                <a:latin typeface="Calibri" panose="020F0502020204030204" pitchFamily="34" charset="0"/>
                <a:ea typeface="Calibri" panose="020F0502020204030204" pitchFamily="34" charset="-122"/>
                <a:cs typeface="Calibri" panose="020F0502020204030204" pitchFamily="34" charset="-120"/>
              </a:rPr>
              <a:t>Every assignment comes with a reason. No black-box decisions — leadership and managers can see exactly why a lead went where it did.</a:t>
            </a:r>
            <a:endParaRPr lang="en-US" sz="1150"/>
          </a:p>
        </p:txBody>
      </p:sp>
      <p:sp>
        <p:nvSpPr>
          <p:cNvPr id="57" name="Shape 14"/>
          <p:cNvSpPr/>
          <p:nvPr/>
        </p:nvSpPr>
        <p:spPr>
          <a:xfrm>
            <a:off x="8759952" y="1783080"/>
            <a:ext cx="2542032" cy="2514600"/>
          </a:xfrm>
          <a:prstGeom prst="roundRect">
            <a:avLst>
              <a:gd name="adj" fmla="val 2909"/>
            </a:avLst>
          </a:prstGeom>
          <a:solidFill>
            <a:srgbClr val="4D8CD1"/>
          </a:solidFill>
          <a:effectLst>
            <a:outerShdw blurRad="88900" dist="38100" dir="5400000" algn="bl" rotWithShape="0">
              <a:srgbClr val="000000">
                <a:alpha val="18000"/>
              </a:srgbClr>
            </a:outerShdw>
          </a:effectLst>
        </p:spPr>
      </p:sp>
      <p:sp>
        <p:nvSpPr>
          <p:cNvPr id="58" name="Text 15"/>
          <p:cNvSpPr/>
          <p:nvPr/>
        </p:nvSpPr>
        <p:spPr>
          <a:xfrm>
            <a:off x="8942832" y="1947672"/>
            <a:ext cx="2176272" cy="274320"/>
          </a:xfrm>
          <a:prstGeom prst="rect">
            <a:avLst/>
          </a:prstGeom>
          <a:noFill/>
        </p:spPr>
        <p:txBody>
          <a:bodyPr wrap="square" rtlCol="0" anchor="ctr"/>
          <a:lstStyle/>
          <a:p>
            <a:pPr marL="0" indent="0">
              <a:buNone/>
            </a:pPr>
            <a:r>
              <a:rPr lang="en-US" sz="1000" b="1" kern="0" spc="120">
                <a:solidFill>
                  <a:srgbClr val="F7D114"/>
                </a:solidFill>
                <a:latin typeface="Calibri" panose="020F0502020204030204" pitchFamily="34" charset="0"/>
                <a:ea typeface="Calibri" panose="020F0502020204030204" pitchFamily="34" charset="-122"/>
                <a:cs typeface="Calibri" panose="020F0502020204030204" pitchFamily="34" charset="-120"/>
              </a:rPr>
              <a:t>BY DESIGN</a:t>
            </a:r>
            <a:endParaRPr lang="en-US" sz="1000"/>
          </a:p>
        </p:txBody>
      </p:sp>
      <p:sp>
        <p:nvSpPr>
          <p:cNvPr id="59" name="Text 16"/>
          <p:cNvSpPr/>
          <p:nvPr/>
        </p:nvSpPr>
        <p:spPr>
          <a:xfrm>
            <a:off x="8942832" y="2240280"/>
            <a:ext cx="2176272" cy="658368"/>
          </a:xfrm>
          <a:prstGeom prst="rect">
            <a:avLst/>
          </a:prstGeom>
          <a:noFill/>
        </p:spPr>
        <p:txBody>
          <a:bodyPr wrap="square" rtlCol="0" anchor="t"/>
          <a:lstStyle/>
          <a:p>
            <a:pPr marL="0" indent="0">
              <a:buNone/>
            </a:pPr>
            <a:r>
              <a:rPr lang="en-US" sz="1500" b="1">
                <a:solidFill>
                  <a:srgbClr val="FFFFFF"/>
                </a:solidFill>
                <a:latin typeface="Calibri" panose="020F0502020204030204" pitchFamily="34" charset="0"/>
                <a:ea typeface="Calibri" panose="020F0502020204030204" pitchFamily="34" charset="-122"/>
                <a:cs typeface="Calibri" panose="020F0502020204030204" pitchFamily="34" charset="-120"/>
              </a:rPr>
              <a:t>Zero Manual Routing</a:t>
            </a:r>
            <a:endParaRPr lang="en-US" sz="1500"/>
          </a:p>
        </p:txBody>
      </p:sp>
      <p:sp>
        <p:nvSpPr>
          <p:cNvPr id="60" name="Text 17"/>
          <p:cNvSpPr/>
          <p:nvPr/>
        </p:nvSpPr>
        <p:spPr>
          <a:xfrm>
            <a:off x="8942832" y="2953512"/>
            <a:ext cx="2176272" cy="1161288"/>
          </a:xfrm>
          <a:prstGeom prst="rect">
            <a:avLst/>
          </a:prstGeom>
          <a:noFill/>
        </p:spPr>
        <p:txBody>
          <a:bodyPr wrap="square" rtlCol="0" anchor="ctr"/>
          <a:lstStyle/>
          <a:p>
            <a:pPr marL="0" indent="0">
              <a:lnSpc>
                <a:spcPct val="122000"/>
              </a:lnSpc>
              <a:buNone/>
            </a:pPr>
            <a:r>
              <a:rPr lang="en-US" sz="1150">
                <a:solidFill>
                  <a:srgbClr val="FFFFFF"/>
                </a:solidFill>
                <a:latin typeface="Calibri" panose="020F0502020204030204" pitchFamily="34" charset="0"/>
                <a:ea typeface="Calibri" panose="020F0502020204030204" pitchFamily="34" charset="-122"/>
                <a:cs typeface="Calibri" panose="020F0502020204030204" pitchFamily="34" charset="-120"/>
              </a:rPr>
              <a:t>No one has to sit and hand-assign leads. The system does it automatically, every night, before the sales day starts.</a:t>
            </a:r>
            <a:endParaRPr lang="en-US" sz="1150"/>
          </a:p>
        </p:txBody>
      </p:sp>
      <p:sp>
        <p:nvSpPr>
          <p:cNvPr id="61" name="Shape 18"/>
          <p:cNvSpPr/>
          <p:nvPr/>
        </p:nvSpPr>
        <p:spPr>
          <a:xfrm>
            <a:off x="640080" y="4526280"/>
            <a:ext cx="10927080" cy="1965960"/>
          </a:xfrm>
          <a:prstGeom prst="roundRect">
            <a:avLst>
              <a:gd name="adj" fmla="val 3721"/>
            </a:avLst>
          </a:prstGeom>
          <a:solidFill>
            <a:srgbClr val="FFFFFF"/>
          </a:solidFill>
          <a:ln w="12700">
            <a:solidFill>
              <a:srgbClr val="DAE3F4"/>
            </a:solidFill>
            <a:prstDash val="solid"/>
          </a:ln>
          <a:effectLst>
            <a:outerShdw blurRad="76200" dist="25400" dir="5400000" algn="bl" rotWithShape="0">
              <a:srgbClr val="000000">
                <a:alpha val="12000"/>
              </a:srgbClr>
            </a:outerShdw>
          </a:effectLst>
        </p:spPr>
      </p:sp>
      <p:sp>
        <p:nvSpPr>
          <p:cNvPr id="62" name="Text 19"/>
          <p:cNvSpPr/>
          <p:nvPr/>
        </p:nvSpPr>
        <p:spPr>
          <a:xfrm>
            <a:off x="960120" y="4681728"/>
            <a:ext cx="10058400" cy="320040"/>
          </a:xfrm>
          <a:prstGeom prst="rect">
            <a:avLst/>
          </a:prstGeom>
          <a:noFill/>
        </p:spPr>
        <p:txBody>
          <a:bodyPr wrap="square" rtlCol="0" anchor="ctr"/>
          <a:lstStyle/>
          <a:p>
            <a:pPr marL="0" indent="0">
              <a:buNone/>
            </a:pPr>
            <a:r>
              <a:rPr lang="en-US" sz="1200" b="1" kern="0" spc="120">
                <a:solidFill>
                  <a:srgbClr val="4D8CD1"/>
                </a:solidFill>
                <a:latin typeface="Calibri" panose="020F0502020204030204" pitchFamily="34" charset="0"/>
                <a:ea typeface="Calibri" panose="020F0502020204030204" pitchFamily="34" charset="-122"/>
                <a:cs typeface="Calibri" panose="020F0502020204030204" pitchFamily="34" charset="-120"/>
              </a:rPr>
              <a:t>BUILDING ON A PROVEN TREND</a:t>
            </a:r>
            <a:endParaRPr lang="en-US" sz="1200"/>
          </a:p>
        </p:txBody>
      </p:sp>
      <p:sp>
        <p:nvSpPr>
          <p:cNvPr id="63" name="Text 20"/>
          <p:cNvSpPr/>
          <p:nvPr/>
        </p:nvSpPr>
        <p:spPr>
          <a:xfrm>
            <a:off x="960120" y="5010912"/>
            <a:ext cx="10241280" cy="960120"/>
          </a:xfrm>
          <a:prstGeom prst="rect">
            <a:avLst/>
          </a:prstGeom>
          <a:noFill/>
        </p:spPr>
        <p:txBody>
          <a:bodyPr wrap="square" rtlCol="0" anchor="ctr"/>
          <a:lstStyle/>
          <a:p>
            <a:pPr marL="0" indent="0">
              <a:lnSpc>
                <a:spcPct val="122000"/>
              </a:lnSpc>
              <a:buNone/>
            </a:pPr>
            <a:r>
              <a:rPr lang="en-US" sz="1200">
                <a:solidFill>
                  <a:srgbClr val="445366"/>
                </a:solidFill>
                <a:latin typeface="Calibri" panose="020F0502020204030204" pitchFamily="34" charset="0"/>
                <a:ea typeface="Calibri" panose="020F0502020204030204" pitchFamily="34" charset="-122"/>
                <a:cs typeface="Calibri" panose="020F0502020204030204" pitchFamily="34" charset="-120"/>
              </a:rPr>
              <a:t>This isn't a first attempt, it's the next step. Infinity Learn has already seen conversion move from ~1% to 2–3% once, simply by introducing HML-based lead categorization. Our model goes a layer deeper: instead of just categorizing leads, it matches each one to the specific manager most likely to convert it. We're not Better matching has already moved conversion once, and there's no reason to think it stops here.</a:t>
            </a:r>
            <a:endParaRPr lang="en-US" sz="1200"/>
          </a:p>
        </p:txBody>
      </p:sp>
      <p:sp>
        <p:nvSpPr>
          <p:cNvPr id="64" name="Text 21"/>
          <p:cNvSpPr/>
          <p:nvPr/>
        </p:nvSpPr>
        <p:spPr>
          <a:xfrm>
            <a:off x="960120" y="6016752"/>
            <a:ext cx="10241280" cy="411480"/>
          </a:xfrm>
          <a:prstGeom prst="rect">
            <a:avLst/>
          </a:prstGeom>
          <a:noFill/>
        </p:spPr>
        <p:txBody>
          <a:bodyPr wrap="square" rtlCol="0" anchor="ctr"/>
          <a:lstStyle/>
          <a:p>
            <a:pPr marL="0" indent="0">
              <a:lnSpc>
                <a:spcPct val="115000"/>
              </a:lnSpc>
              <a:buNone/>
            </a:pPr>
            <a:r>
              <a:rPr lang="en-US" sz="1050" i="1">
                <a:solidFill>
                  <a:srgbClr val="445366"/>
                </a:solidFill>
                <a:latin typeface="Calibri" panose="020F0502020204030204" pitchFamily="34" charset="0"/>
                <a:ea typeface="Calibri" panose="020F0502020204030204" pitchFamily="34" charset="-122"/>
                <a:cs typeface="Calibri" panose="020F0502020204030204" pitchFamily="34" charset="-120"/>
              </a:rPr>
              <a:t>Beyond conversion: this also means fairer workloads, better language/geography fit for customers, and a fully auditable process outcomes we can already demonstrate in the prototype, not just project.</a:t>
            </a:r>
            <a:endParaRPr lang="en-US" sz="10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43000" y="502920"/>
            <a:ext cx="7315200" cy="320040"/>
          </a:xfrm>
          <a:prstGeom prst="rect">
            <a:avLst/>
          </a:prstGeom>
          <a:noFill/>
        </p:spPr>
        <p:txBody>
          <a:bodyPr wrap="square" rtlCol="0" anchor="ctr"/>
          <a:lstStyle/>
          <a:p>
            <a:pPr marL="0" indent="0">
              <a:buNone/>
            </a:pPr>
            <a:r>
              <a:rPr lang="en-US" sz="1300" b="1" kern="0" spc="200">
                <a:solidFill>
                  <a:srgbClr val="4D8CD1"/>
                </a:solidFill>
                <a:latin typeface="Calibri" panose="020F0502020204030204" pitchFamily="34" charset="0"/>
                <a:ea typeface="Calibri" panose="020F0502020204030204" pitchFamily="34" charset="-122"/>
                <a:cs typeface="Calibri" panose="020F0502020204030204" pitchFamily="34" charset="-120"/>
              </a:rPr>
              <a:t>LIVE DEMO</a:t>
            </a:r>
            <a:endParaRPr lang="en-US" sz="1300"/>
          </a:p>
        </p:txBody>
      </p:sp>
      <p:sp>
        <p:nvSpPr>
          <p:cNvPr id="4" name="Text 1"/>
          <p:cNvSpPr/>
          <p:nvPr/>
        </p:nvSpPr>
        <p:spPr>
          <a:xfrm>
            <a:off x="1143000" y="777240"/>
            <a:ext cx="8686800" cy="640080"/>
          </a:xfrm>
          <a:prstGeom prst="rect">
            <a:avLst/>
          </a:prstGeom>
          <a:noFill/>
        </p:spPr>
        <p:txBody>
          <a:bodyPr wrap="square" rtlCol="0" anchor="ctr"/>
          <a:lstStyle/>
          <a:p>
            <a:pPr marL="0" indent="0">
              <a:buNone/>
            </a:pPr>
            <a:r>
              <a:rPr lang="en-US" sz="3000" b="1">
                <a:solidFill>
                  <a:srgbClr val="16324A"/>
                </a:solidFill>
                <a:latin typeface="Calibri" panose="020F0502020204030204" pitchFamily="34" charset="0"/>
                <a:ea typeface="Calibri" panose="020F0502020204030204" pitchFamily="34" charset="-122"/>
                <a:cs typeface="Calibri" panose="020F0502020204030204" pitchFamily="34" charset="-120"/>
              </a:rPr>
              <a:t>See It In Action</a:t>
            </a:r>
            <a:endParaRPr lang="en-US" sz="3000"/>
          </a:p>
        </p:txBody>
      </p:sp>
      <p:sp>
        <p:nvSpPr>
          <p:cNvPr id="5" name="Text 2"/>
          <p:cNvSpPr/>
          <p:nvPr/>
        </p:nvSpPr>
        <p:spPr>
          <a:xfrm>
            <a:off x="640080" y="1554480"/>
            <a:ext cx="10515600" cy="457200"/>
          </a:xfrm>
          <a:prstGeom prst="rect">
            <a:avLst/>
          </a:prstGeom>
          <a:noFill/>
        </p:spPr>
        <p:txBody>
          <a:bodyPr wrap="square" rtlCol="0" anchor="ctr"/>
          <a:lstStyle/>
          <a:p>
            <a:pPr marL="0" indent="0">
              <a:buNone/>
            </a:pPr>
            <a:r>
              <a:rPr lang="en-US" sz="1500" i="1">
                <a:solidFill>
                  <a:srgbClr val="445366"/>
                </a:solidFill>
                <a:latin typeface="Calibri" panose="020F0502020204030204" pitchFamily="34" charset="0"/>
                <a:ea typeface="Calibri" panose="020F0502020204030204" pitchFamily="34" charset="-122"/>
                <a:cs typeface="Calibri" panose="020F0502020204030204" pitchFamily="34" charset="-120"/>
              </a:rPr>
              <a:t>Let’s walk through the live prototype demonstration of the Conversion Catalyst.</a:t>
            </a:r>
            <a:endParaRPr lang="en-US" sz="1500"/>
          </a:p>
        </p:txBody>
      </p:sp>
      <p:sp>
        <p:nvSpPr>
          <p:cNvPr id="6" name="Shape 3"/>
          <p:cNvSpPr/>
          <p:nvPr/>
        </p:nvSpPr>
        <p:spPr>
          <a:xfrm>
            <a:off x="640080" y="2377440"/>
            <a:ext cx="2542032" cy="3383280"/>
          </a:xfrm>
          <a:prstGeom prst="roundRect">
            <a:avLst>
              <a:gd name="adj" fmla="val 2878"/>
            </a:avLst>
          </a:prstGeom>
          <a:solidFill>
            <a:srgbClr val="16324A"/>
          </a:solidFill>
          <a:effectLst>
            <a:outerShdw blurRad="88900" dist="38100" dir="5400000" algn="bl" rotWithShape="0">
              <a:srgbClr val="000000">
                <a:alpha val="18000"/>
              </a:srgbClr>
            </a:outerShdw>
          </a:effectLst>
        </p:spPr>
      </p:sp>
      <p:sp>
        <p:nvSpPr>
          <p:cNvPr id="7" name="Text 4"/>
          <p:cNvSpPr/>
          <p:nvPr/>
        </p:nvSpPr>
        <p:spPr>
          <a:xfrm>
            <a:off x="868680" y="2560320"/>
            <a:ext cx="1097280" cy="822960"/>
          </a:xfrm>
          <a:prstGeom prst="rect">
            <a:avLst/>
          </a:prstGeom>
          <a:noFill/>
        </p:spPr>
        <p:txBody>
          <a:bodyPr wrap="square" rtlCol="0" anchor="ctr"/>
          <a:lstStyle/>
          <a:p>
            <a:pPr marL="0" indent="0">
              <a:buNone/>
            </a:pPr>
            <a:r>
              <a:rPr lang="en-US" sz="3400" b="1">
                <a:solidFill>
                  <a:srgbClr val="F7D114"/>
                </a:solidFill>
                <a:latin typeface="Calibri" panose="020F0502020204030204" pitchFamily="34" charset="0"/>
                <a:ea typeface="Calibri" panose="020F0502020204030204" pitchFamily="34" charset="-122"/>
                <a:cs typeface="Calibri" panose="020F0502020204030204" pitchFamily="34" charset="-120"/>
              </a:rPr>
              <a:t>1</a:t>
            </a:r>
            <a:endParaRPr lang="en-US" sz="3400"/>
          </a:p>
        </p:txBody>
      </p:sp>
      <p:sp>
        <p:nvSpPr>
          <p:cNvPr id="8" name="Text 5"/>
          <p:cNvSpPr/>
          <p:nvPr/>
        </p:nvSpPr>
        <p:spPr>
          <a:xfrm>
            <a:off x="868680" y="3337560"/>
            <a:ext cx="2084832" cy="457200"/>
          </a:xfrm>
          <a:prstGeom prst="rect">
            <a:avLst/>
          </a:prstGeom>
          <a:noFill/>
        </p:spPr>
        <p:txBody>
          <a:bodyPr wrap="square" rtlCol="0" anchor="ctr"/>
          <a:lstStyle/>
          <a:p>
            <a:pPr marL="0" indent="0">
              <a:buNone/>
            </a:pPr>
            <a:r>
              <a:rPr lang="en-US" sz="1600" b="1" kern="0" spc="100">
                <a:solidFill>
                  <a:srgbClr val="FFFFFF"/>
                </a:solidFill>
                <a:latin typeface="Calibri" panose="020F0502020204030204" pitchFamily="34" charset="0"/>
                <a:ea typeface="Calibri" panose="020F0502020204030204" pitchFamily="34" charset="-122"/>
                <a:cs typeface="Calibri" panose="020F0502020204030204" pitchFamily="34" charset="-120"/>
              </a:rPr>
              <a:t>INGEST</a:t>
            </a:r>
            <a:endParaRPr lang="en-US" sz="1600"/>
          </a:p>
        </p:txBody>
      </p:sp>
      <p:sp>
        <p:nvSpPr>
          <p:cNvPr id="9" name="Shape 6"/>
          <p:cNvSpPr/>
          <p:nvPr/>
        </p:nvSpPr>
        <p:spPr>
          <a:xfrm>
            <a:off x="868680" y="3794760"/>
            <a:ext cx="457200" cy="27432"/>
          </a:xfrm>
          <a:prstGeom prst="rect">
            <a:avLst/>
          </a:prstGeom>
          <a:solidFill>
            <a:srgbClr val="F7D114"/>
          </a:solidFill>
        </p:spPr>
      </p:sp>
      <p:sp>
        <p:nvSpPr>
          <p:cNvPr id="10" name="Text 7"/>
          <p:cNvSpPr/>
          <p:nvPr/>
        </p:nvSpPr>
        <p:spPr>
          <a:xfrm>
            <a:off x="868680" y="3977640"/>
            <a:ext cx="2084832" cy="1554480"/>
          </a:xfrm>
          <a:prstGeom prst="rect">
            <a:avLst/>
          </a:prstGeom>
          <a:noFill/>
        </p:spPr>
        <p:txBody>
          <a:bodyPr wrap="square" rtlCol="0" anchor="ctr"/>
          <a:lstStyle/>
          <a:p>
            <a:pPr marL="0" indent="0">
              <a:lnSpc>
                <a:spcPct val="130000"/>
              </a:lnSpc>
              <a:buNone/>
            </a:pPr>
            <a:r>
              <a:rPr lang="en-US" sz="1250">
                <a:solidFill>
                  <a:srgbClr val="FFFFFF"/>
                </a:solidFill>
                <a:latin typeface="Calibri" panose="020F0502020204030204" pitchFamily="34" charset="0"/>
                <a:ea typeface="Calibri" panose="020F0502020204030204" pitchFamily="34" charset="-122"/>
                <a:cs typeface="Calibri" panose="020F0502020204030204" pitchFamily="34" charset="-120"/>
              </a:rPr>
              <a:t>We will ingest a batch of new leads into our system.</a:t>
            </a:r>
            <a:endParaRPr lang="en-US" sz="1250"/>
          </a:p>
        </p:txBody>
      </p:sp>
      <p:sp>
        <p:nvSpPr>
          <p:cNvPr id="11" name="Text 8"/>
          <p:cNvSpPr/>
          <p:nvPr/>
        </p:nvSpPr>
        <p:spPr>
          <a:xfrm>
            <a:off x="3186684" y="3749040"/>
            <a:ext cx="155448" cy="640080"/>
          </a:xfrm>
          <a:prstGeom prst="rect">
            <a:avLst/>
          </a:prstGeom>
          <a:noFill/>
        </p:spPr>
        <p:txBody>
          <a:bodyPr wrap="square" rtlCol="0" anchor="ctr"/>
          <a:lstStyle/>
          <a:p>
            <a:pPr marL="0" indent="0" algn="ctr">
              <a:buNone/>
            </a:pPr>
            <a:r>
              <a:rPr lang="en-US" sz="2600" b="1">
                <a:solidFill>
                  <a:srgbClr val="4D8CD1"/>
                </a:solidFill>
              </a:rPr>
              <a:t>›</a:t>
            </a:r>
            <a:endParaRPr lang="en-US" sz="2600"/>
          </a:p>
        </p:txBody>
      </p:sp>
      <p:sp>
        <p:nvSpPr>
          <p:cNvPr id="12" name="Shape 9"/>
          <p:cNvSpPr/>
          <p:nvPr/>
        </p:nvSpPr>
        <p:spPr>
          <a:xfrm>
            <a:off x="3346704" y="2377440"/>
            <a:ext cx="2542032" cy="3383280"/>
          </a:xfrm>
          <a:prstGeom prst="roundRect">
            <a:avLst>
              <a:gd name="adj" fmla="val 2878"/>
            </a:avLst>
          </a:prstGeom>
          <a:solidFill>
            <a:srgbClr val="4D8CD1"/>
          </a:solidFill>
          <a:effectLst>
            <a:outerShdw blurRad="88900" dist="38100" dir="5400000" algn="bl" rotWithShape="0">
              <a:srgbClr val="000000">
                <a:alpha val="18000"/>
              </a:srgbClr>
            </a:outerShdw>
          </a:effectLst>
        </p:spPr>
      </p:sp>
      <p:sp>
        <p:nvSpPr>
          <p:cNvPr id="13" name="Text 10"/>
          <p:cNvSpPr/>
          <p:nvPr/>
        </p:nvSpPr>
        <p:spPr>
          <a:xfrm>
            <a:off x="3575304" y="2560320"/>
            <a:ext cx="1097280" cy="822960"/>
          </a:xfrm>
          <a:prstGeom prst="rect">
            <a:avLst/>
          </a:prstGeom>
          <a:noFill/>
        </p:spPr>
        <p:txBody>
          <a:bodyPr wrap="square" rtlCol="0" anchor="ctr"/>
          <a:lstStyle/>
          <a:p>
            <a:pPr marL="0" indent="0">
              <a:buNone/>
            </a:pPr>
            <a:r>
              <a:rPr lang="en-US" sz="3400" b="1">
                <a:solidFill>
                  <a:srgbClr val="F7D114"/>
                </a:solidFill>
                <a:latin typeface="Calibri" panose="020F0502020204030204" pitchFamily="34" charset="0"/>
                <a:ea typeface="Calibri" panose="020F0502020204030204" pitchFamily="34" charset="-122"/>
                <a:cs typeface="Calibri" panose="020F0502020204030204" pitchFamily="34" charset="-120"/>
              </a:rPr>
              <a:t>2</a:t>
            </a:r>
            <a:endParaRPr lang="en-US" sz="3400"/>
          </a:p>
        </p:txBody>
      </p:sp>
      <p:sp>
        <p:nvSpPr>
          <p:cNvPr id="14" name="Text 11"/>
          <p:cNvSpPr/>
          <p:nvPr/>
        </p:nvSpPr>
        <p:spPr>
          <a:xfrm>
            <a:off x="3575304" y="3337560"/>
            <a:ext cx="2084832" cy="457200"/>
          </a:xfrm>
          <a:prstGeom prst="rect">
            <a:avLst/>
          </a:prstGeom>
          <a:noFill/>
        </p:spPr>
        <p:txBody>
          <a:bodyPr wrap="square" rtlCol="0" anchor="ctr"/>
          <a:lstStyle/>
          <a:p>
            <a:pPr marL="0" indent="0">
              <a:buNone/>
            </a:pPr>
            <a:r>
              <a:rPr lang="en-US" sz="1600" b="1" kern="0" spc="100">
                <a:solidFill>
                  <a:srgbClr val="FFFFFF"/>
                </a:solidFill>
                <a:latin typeface="Calibri" panose="020F0502020204030204" pitchFamily="34" charset="0"/>
                <a:ea typeface="Calibri" panose="020F0502020204030204" pitchFamily="34" charset="-122"/>
                <a:cs typeface="Calibri" panose="020F0502020204030204" pitchFamily="34" charset="-120"/>
              </a:rPr>
              <a:t>SCORE</a:t>
            </a:r>
            <a:endParaRPr lang="en-US" sz="1600"/>
          </a:p>
        </p:txBody>
      </p:sp>
      <p:sp>
        <p:nvSpPr>
          <p:cNvPr id="15" name="Shape 12"/>
          <p:cNvSpPr/>
          <p:nvPr/>
        </p:nvSpPr>
        <p:spPr>
          <a:xfrm>
            <a:off x="3575304" y="3794760"/>
            <a:ext cx="457200" cy="27432"/>
          </a:xfrm>
          <a:prstGeom prst="rect">
            <a:avLst/>
          </a:prstGeom>
          <a:solidFill>
            <a:srgbClr val="F7D114"/>
          </a:solidFill>
        </p:spPr>
      </p:sp>
      <p:sp>
        <p:nvSpPr>
          <p:cNvPr id="16" name="Text 13"/>
          <p:cNvSpPr/>
          <p:nvPr/>
        </p:nvSpPr>
        <p:spPr>
          <a:xfrm>
            <a:off x="3575304" y="3977640"/>
            <a:ext cx="2084832" cy="1554480"/>
          </a:xfrm>
          <a:prstGeom prst="rect">
            <a:avLst/>
          </a:prstGeom>
          <a:noFill/>
        </p:spPr>
        <p:txBody>
          <a:bodyPr wrap="square" rtlCol="0" anchor="ctr"/>
          <a:lstStyle/>
          <a:p>
            <a:pPr marL="0" indent="0">
              <a:lnSpc>
                <a:spcPct val="130000"/>
              </a:lnSpc>
              <a:buNone/>
            </a:pPr>
            <a:r>
              <a:rPr lang="en-US" sz="1250">
                <a:solidFill>
                  <a:srgbClr val="FFFFFF"/>
                </a:solidFill>
                <a:latin typeface="Calibri" panose="020F0502020204030204" pitchFamily="34" charset="0"/>
                <a:ea typeface="Calibri" panose="020F0502020204030204" pitchFamily="34" charset="-122"/>
                <a:cs typeface="Calibri" panose="020F0502020204030204" pitchFamily="34" charset="-120"/>
              </a:rPr>
              <a:t>Run the matching engine to filter unavailable managers and score the rest.</a:t>
            </a:r>
            <a:endParaRPr lang="en-US" sz="1250"/>
          </a:p>
        </p:txBody>
      </p:sp>
      <p:sp>
        <p:nvSpPr>
          <p:cNvPr id="17" name="Text 14"/>
          <p:cNvSpPr/>
          <p:nvPr/>
        </p:nvSpPr>
        <p:spPr>
          <a:xfrm>
            <a:off x="5893308" y="3749040"/>
            <a:ext cx="155448" cy="640080"/>
          </a:xfrm>
          <a:prstGeom prst="rect">
            <a:avLst/>
          </a:prstGeom>
          <a:noFill/>
        </p:spPr>
        <p:txBody>
          <a:bodyPr wrap="square" rtlCol="0" anchor="ctr"/>
          <a:lstStyle/>
          <a:p>
            <a:pPr marL="0" indent="0" algn="ctr">
              <a:buNone/>
            </a:pPr>
            <a:r>
              <a:rPr lang="en-US" sz="2600" b="1">
                <a:solidFill>
                  <a:srgbClr val="4D8CD1"/>
                </a:solidFill>
              </a:rPr>
              <a:t>›</a:t>
            </a:r>
            <a:endParaRPr lang="en-US" sz="2600"/>
          </a:p>
        </p:txBody>
      </p:sp>
      <p:sp>
        <p:nvSpPr>
          <p:cNvPr id="18" name="Shape 15"/>
          <p:cNvSpPr/>
          <p:nvPr/>
        </p:nvSpPr>
        <p:spPr>
          <a:xfrm>
            <a:off x="6053328" y="2377440"/>
            <a:ext cx="2542032" cy="3383280"/>
          </a:xfrm>
          <a:prstGeom prst="roundRect">
            <a:avLst>
              <a:gd name="adj" fmla="val 2878"/>
            </a:avLst>
          </a:prstGeom>
          <a:solidFill>
            <a:srgbClr val="16324A"/>
          </a:solidFill>
          <a:effectLst>
            <a:outerShdw blurRad="88900" dist="38100" dir="5400000" algn="bl" rotWithShape="0">
              <a:srgbClr val="000000">
                <a:alpha val="18000"/>
              </a:srgbClr>
            </a:outerShdw>
          </a:effectLst>
        </p:spPr>
      </p:sp>
      <p:sp>
        <p:nvSpPr>
          <p:cNvPr id="19" name="Text 16"/>
          <p:cNvSpPr/>
          <p:nvPr/>
        </p:nvSpPr>
        <p:spPr>
          <a:xfrm>
            <a:off x="6281928" y="2560320"/>
            <a:ext cx="1097280" cy="822960"/>
          </a:xfrm>
          <a:prstGeom prst="rect">
            <a:avLst/>
          </a:prstGeom>
          <a:noFill/>
        </p:spPr>
        <p:txBody>
          <a:bodyPr wrap="square" rtlCol="0" anchor="ctr"/>
          <a:lstStyle/>
          <a:p>
            <a:pPr marL="0" indent="0">
              <a:buNone/>
            </a:pPr>
            <a:r>
              <a:rPr lang="en-US" sz="3400" b="1">
                <a:solidFill>
                  <a:srgbClr val="F7D114"/>
                </a:solidFill>
                <a:latin typeface="Calibri" panose="020F0502020204030204" pitchFamily="34" charset="0"/>
                <a:ea typeface="Calibri" panose="020F0502020204030204" pitchFamily="34" charset="-122"/>
                <a:cs typeface="Calibri" panose="020F0502020204030204" pitchFamily="34" charset="-120"/>
              </a:rPr>
              <a:t>3</a:t>
            </a:r>
            <a:endParaRPr lang="en-US" sz="3400"/>
          </a:p>
        </p:txBody>
      </p:sp>
      <p:sp>
        <p:nvSpPr>
          <p:cNvPr id="20" name="Text 17"/>
          <p:cNvSpPr/>
          <p:nvPr/>
        </p:nvSpPr>
        <p:spPr>
          <a:xfrm>
            <a:off x="6281928" y="3337560"/>
            <a:ext cx="2084832" cy="457200"/>
          </a:xfrm>
          <a:prstGeom prst="rect">
            <a:avLst/>
          </a:prstGeom>
          <a:noFill/>
        </p:spPr>
        <p:txBody>
          <a:bodyPr wrap="square" rtlCol="0" anchor="ctr"/>
          <a:lstStyle/>
          <a:p>
            <a:pPr marL="0" indent="0">
              <a:buNone/>
            </a:pPr>
            <a:r>
              <a:rPr lang="en-US" sz="1600" b="1" kern="0" spc="100">
                <a:solidFill>
                  <a:srgbClr val="FFFFFF"/>
                </a:solidFill>
                <a:latin typeface="Calibri" panose="020F0502020204030204" pitchFamily="34" charset="0"/>
                <a:ea typeface="Calibri" panose="020F0502020204030204" pitchFamily="34" charset="-122"/>
                <a:cs typeface="Calibri" panose="020F0502020204030204" pitchFamily="34" charset="-120"/>
              </a:rPr>
              <a:t>REVIEW</a:t>
            </a:r>
            <a:endParaRPr lang="en-US" sz="1600"/>
          </a:p>
        </p:txBody>
      </p:sp>
      <p:sp>
        <p:nvSpPr>
          <p:cNvPr id="21" name="Shape 18"/>
          <p:cNvSpPr/>
          <p:nvPr/>
        </p:nvSpPr>
        <p:spPr>
          <a:xfrm>
            <a:off x="6281928" y="3794760"/>
            <a:ext cx="457200" cy="27432"/>
          </a:xfrm>
          <a:prstGeom prst="rect">
            <a:avLst/>
          </a:prstGeom>
          <a:solidFill>
            <a:srgbClr val="F7D114"/>
          </a:solidFill>
        </p:spPr>
      </p:sp>
      <p:sp>
        <p:nvSpPr>
          <p:cNvPr id="22" name="Text 19"/>
          <p:cNvSpPr/>
          <p:nvPr/>
        </p:nvSpPr>
        <p:spPr>
          <a:xfrm>
            <a:off x="6281928" y="3977640"/>
            <a:ext cx="2084832" cy="1554480"/>
          </a:xfrm>
          <a:prstGeom prst="rect">
            <a:avLst/>
          </a:prstGeom>
          <a:noFill/>
        </p:spPr>
        <p:txBody>
          <a:bodyPr wrap="square" rtlCol="0" anchor="ctr"/>
          <a:lstStyle/>
          <a:p>
            <a:pPr marL="0" indent="0">
              <a:lnSpc>
                <a:spcPct val="130000"/>
              </a:lnSpc>
              <a:buNone/>
            </a:pPr>
            <a:r>
              <a:rPr lang="en-US" sz="1250">
                <a:solidFill>
                  <a:srgbClr val="FFFFFF"/>
                </a:solidFill>
                <a:latin typeface="Calibri" panose="020F0502020204030204" pitchFamily="34" charset="0"/>
                <a:ea typeface="Calibri" panose="020F0502020204030204" pitchFamily="34" charset="-122"/>
                <a:cs typeface="Calibri" panose="020F0502020204030204" pitchFamily="34" charset="-120"/>
              </a:rPr>
              <a:t>Display the final output, showing exactly why a lead was assigned.</a:t>
            </a:r>
            <a:endParaRPr lang="en-US" sz="1250"/>
          </a:p>
        </p:txBody>
      </p:sp>
      <p:sp>
        <p:nvSpPr>
          <p:cNvPr id="23" name="Text 20"/>
          <p:cNvSpPr/>
          <p:nvPr/>
        </p:nvSpPr>
        <p:spPr>
          <a:xfrm>
            <a:off x="8599932" y="3749040"/>
            <a:ext cx="155448" cy="640080"/>
          </a:xfrm>
          <a:prstGeom prst="rect">
            <a:avLst/>
          </a:prstGeom>
          <a:noFill/>
        </p:spPr>
        <p:txBody>
          <a:bodyPr wrap="square" rtlCol="0" anchor="ctr"/>
          <a:lstStyle/>
          <a:p>
            <a:pPr marL="0" indent="0" algn="ctr">
              <a:buNone/>
            </a:pPr>
            <a:r>
              <a:rPr lang="en-US" sz="2600" b="1">
                <a:solidFill>
                  <a:srgbClr val="4D8CD1"/>
                </a:solidFill>
              </a:rPr>
              <a:t>›</a:t>
            </a:r>
            <a:endParaRPr lang="en-US" sz="2600"/>
          </a:p>
        </p:txBody>
      </p:sp>
      <p:sp>
        <p:nvSpPr>
          <p:cNvPr id="24" name="Shape 21"/>
          <p:cNvSpPr/>
          <p:nvPr/>
        </p:nvSpPr>
        <p:spPr>
          <a:xfrm>
            <a:off x="8759952" y="2377440"/>
            <a:ext cx="2542032" cy="3383280"/>
          </a:xfrm>
          <a:prstGeom prst="roundRect">
            <a:avLst>
              <a:gd name="adj" fmla="val 2878"/>
            </a:avLst>
          </a:prstGeom>
          <a:solidFill>
            <a:srgbClr val="4D8CD1"/>
          </a:solidFill>
          <a:effectLst>
            <a:outerShdw blurRad="88900" dist="38100" dir="5400000" algn="bl" rotWithShape="0">
              <a:srgbClr val="000000">
                <a:alpha val="18000"/>
              </a:srgbClr>
            </a:outerShdw>
          </a:effectLst>
        </p:spPr>
      </p:sp>
      <p:sp>
        <p:nvSpPr>
          <p:cNvPr id="25" name="Text 22"/>
          <p:cNvSpPr/>
          <p:nvPr/>
        </p:nvSpPr>
        <p:spPr>
          <a:xfrm>
            <a:off x="8988552" y="2560320"/>
            <a:ext cx="1097280" cy="822960"/>
          </a:xfrm>
          <a:prstGeom prst="rect">
            <a:avLst/>
          </a:prstGeom>
          <a:noFill/>
        </p:spPr>
        <p:txBody>
          <a:bodyPr wrap="square" rtlCol="0" anchor="ctr"/>
          <a:lstStyle/>
          <a:p>
            <a:pPr marL="0" indent="0">
              <a:buNone/>
            </a:pPr>
            <a:r>
              <a:rPr lang="en-US" sz="3400" b="1">
                <a:solidFill>
                  <a:srgbClr val="F7D114"/>
                </a:solidFill>
                <a:latin typeface="Calibri" panose="020F0502020204030204" pitchFamily="34" charset="0"/>
                <a:ea typeface="Calibri" panose="020F0502020204030204" pitchFamily="34" charset="-122"/>
                <a:cs typeface="Calibri" panose="020F0502020204030204" pitchFamily="34" charset="-120"/>
              </a:rPr>
              <a:t>4</a:t>
            </a:r>
            <a:endParaRPr lang="en-US" sz="3400"/>
          </a:p>
        </p:txBody>
      </p:sp>
      <p:sp>
        <p:nvSpPr>
          <p:cNvPr id="26" name="Text 23"/>
          <p:cNvSpPr/>
          <p:nvPr/>
        </p:nvSpPr>
        <p:spPr>
          <a:xfrm>
            <a:off x="8988552" y="3337560"/>
            <a:ext cx="2084832" cy="457200"/>
          </a:xfrm>
          <a:prstGeom prst="rect">
            <a:avLst/>
          </a:prstGeom>
          <a:noFill/>
        </p:spPr>
        <p:txBody>
          <a:bodyPr wrap="square" rtlCol="0" anchor="ctr"/>
          <a:lstStyle/>
          <a:p>
            <a:pPr marL="0" indent="0">
              <a:buNone/>
            </a:pPr>
            <a:r>
              <a:rPr lang="en-US" sz="1600" b="1" kern="0" spc="100">
                <a:solidFill>
                  <a:srgbClr val="FFFFFF"/>
                </a:solidFill>
                <a:latin typeface="Calibri" panose="020F0502020204030204" pitchFamily="34" charset="0"/>
                <a:ea typeface="Calibri" panose="020F0502020204030204" pitchFamily="34" charset="-122"/>
                <a:cs typeface="Calibri" panose="020F0502020204030204" pitchFamily="34" charset="-120"/>
              </a:rPr>
              <a:t>PUSH</a:t>
            </a:r>
            <a:endParaRPr lang="en-US" sz="1600"/>
          </a:p>
        </p:txBody>
      </p:sp>
      <p:sp>
        <p:nvSpPr>
          <p:cNvPr id="27" name="Shape 24"/>
          <p:cNvSpPr/>
          <p:nvPr/>
        </p:nvSpPr>
        <p:spPr>
          <a:xfrm>
            <a:off x="8988552" y="3794760"/>
            <a:ext cx="457200" cy="27432"/>
          </a:xfrm>
          <a:prstGeom prst="rect">
            <a:avLst/>
          </a:prstGeom>
          <a:solidFill>
            <a:srgbClr val="F7D114"/>
          </a:solidFill>
        </p:spPr>
      </p:sp>
      <p:sp>
        <p:nvSpPr>
          <p:cNvPr id="28" name="Text 25"/>
          <p:cNvSpPr/>
          <p:nvPr/>
        </p:nvSpPr>
        <p:spPr>
          <a:xfrm>
            <a:off x="8988552" y="3977640"/>
            <a:ext cx="2084832" cy="1554480"/>
          </a:xfrm>
          <a:prstGeom prst="rect">
            <a:avLst/>
          </a:prstGeom>
          <a:noFill/>
        </p:spPr>
        <p:txBody>
          <a:bodyPr wrap="square" rtlCol="0" anchor="ctr"/>
          <a:lstStyle/>
          <a:p>
            <a:pPr marL="0" indent="0">
              <a:lnSpc>
                <a:spcPct val="130000"/>
              </a:lnSpc>
              <a:buNone/>
            </a:pPr>
            <a:r>
              <a:rPr lang="en-US" sz="1250">
                <a:solidFill>
                  <a:srgbClr val="FFFFFF"/>
                </a:solidFill>
                <a:latin typeface="Calibri" panose="020F0502020204030204" pitchFamily="34" charset="0"/>
                <a:ea typeface="Calibri" panose="020F0502020204030204" pitchFamily="34" charset="-122"/>
                <a:cs typeface="Calibri" panose="020F0502020204030204" pitchFamily="34" charset="-120"/>
              </a:rPr>
              <a:t>Demonstrate the CRM assignment push using our mock API.</a:t>
            </a:r>
            <a:endParaRPr lang="en-US" sz="12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bg_dark.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001000" y="1371600"/>
            <a:ext cx="3840480" cy="822960"/>
          </a:xfrm>
          <a:prstGeom prst="rect">
            <a:avLst/>
          </a:prstGeom>
          <a:noFill/>
        </p:spPr>
        <p:txBody>
          <a:bodyPr wrap="square" rtlCol="0" anchor="ctr"/>
          <a:lstStyle/>
          <a:p>
            <a:pPr marL="0" indent="0" algn="r">
              <a:buNone/>
            </a:pPr>
            <a:r>
              <a:rPr lang="en-US" sz="3800" b="1">
                <a:solidFill>
                  <a:srgbClr val="FFFFFF"/>
                </a:solidFill>
                <a:latin typeface="Calibri" panose="020F0502020204030204" pitchFamily="34" charset="0"/>
                <a:ea typeface="Calibri" panose="020F0502020204030204" pitchFamily="34" charset="-122"/>
                <a:cs typeface="Calibri" panose="020F0502020204030204" pitchFamily="34" charset="-120"/>
              </a:rPr>
              <a:t>Thank You</a:t>
            </a:r>
            <a:endParaRPr lang="en-US" sz="3800"/>
          </a:p>
        </p:txBody>
      </p:sp>
      <p:sp>
        <p:nvSpPr>
          <p:cNvPr id="4" name="Text 1"/>
          <p:cNvSpPr/>
          <p:nvPr/>
        </p:nvSpPr>
        <p:spPr>
          <a:xfrm>
            <a:off x="8001000" y="2148840"/>
            <a:ext cx="3840480" cy="457200"/>
          </a:xfrm>
          <a:prstGeom prst="rect">
            <a:avLst/>
          </a:prstGeom>
          <a:noFill/>
        </p:spPr>
        <p:txBody>
          <a:bodyPr wrap="square" lIns="91440" tIns="45720" rIns="91440" bIns="45720" rtlCol="0" anchor="ctr"/>
          <a:lstStyle/>
          <a:p>
            <a:pPr marL="0" indent="0" algn="r">
              <a:buNone/>
            </a:pPr>
            <a:endParaRPr lang="en-US" sz="1700" dirty="0">
              <a:solidFill>
                <a:srgbClr val="DAE3F4"/>
              </a:solidFill>
              <a:ea typeface="Calibri"/>
              <a:cs typeface="Calibri"/>
            </a:endParaRPr>
          </a:p>
        </p:txBody>
      </p:sp>
      <p:sp>
        <p:nvSpPr>
          <p:cNvPr id="5" name="Text 2"/>
          <p:cNvSpPr/>
          <p:nvPr/>
        </p:nvSpPr>
        <p:spPr>
          <a:xfrm>
            <a:off x="8001000" y="2150497"/>
            <a:ext cx="3840480" cy="365760"/>
          </a:xfrm>
          <a:prstGeom prst="rect">
            <a:avLst/>
          </a:prstGeom>
          <a:noFill/>
        </p:spPr>
        <p:txBody>
          <a:bodyPr wrap="square" rtlCol="0" anchor="ctr"/>
          <a:lstStyle/>
          <a:p>
            <a:pPr marL="0" indent="0" algn="r">
              <a:buNone/>
            </a:pPr>
            <a:r>
              <a:rPr lang="en-US" sz="1500" b="1">
                <a:solidFill>
                  <a:srgbClr val="F7D114"/>
                </a:solidFill>
                <a:latin typeface="Calibri" panose="020F0502020204030204" pitchFamily="34" charset="0"/>
                <a:ea typeface="Calibri" panose="020F0502020204030204" pitchFamily="34" charset="-122"/>
                <a:cs typeface="Calibri" panose="020F0502020204030204" pitchFamily="34" charset="-120"/>
              </a:rPr>
              <a:t>Conversion Catalyst</a:t>
            </a:r>
            <a:endParaRPr lang="en-US" sz="1500"/>
          </a:p>
        </p:txBody>
      </p:sp>
      <p:sp>
        <p:nvSpPr>
          <p:cNvPr id="6" name="Text 3"/>
          <p:cNvSpPr/>
          <p:nvPr/>
        </p:nvSpPr>
        <p:spPr>
          <a:xfrm>
            <a:off x="8083826" y="3721872"/>
            <a:ext cx="3840480" cy="365760"/>
          </a:xfrm>
          <a:prstGeom prst="rect">
            <a:avLst/>
          </a:prstGeom>
          <a:noFill/>
        </p:spPr>
        <p:txBody>
          <a:bodyPr wrap="square" rtlCol="0" anchor="ctr"/>
          <a:lstStyle/>
          <a:p>
            <a:pPr marL="0" indent="0" algn="r">
              <a:buNone/>
            </a:pPr>
            <a:r>
              <a:rPr lang="en-US" sz="1150">
                <a:solidFill>
                  <a:srgbClr val="9FB6D0"/>
                </a:solidFill>
                <a:latin typeface="Calibri" panose="020F0502020204030204" pitchFamily="34" charset="0"/>
                <a:ea typeface="Calibri" panose="020F0502020204030204" pitchFamily="34" charset="-122"/>
                <a:cs typeface="Calibri" panose="020F0502020204030204" pitchFamily="34" charset="-120"/>
              </a:rPr>
              <a:t>Team Data Dynamos  |  Hackathon Prototype 2026</a:t>
            </a:r>
            <a:endParaRPr lang="en-US" sz="1150"/>
          </a:p>
        </p:txBody>
      </p:sp>
      <p:sp>
        <p:nvSpPr>
          <p:cNvPr id="9" name="TextBox 8">
            <a:extLst>
              <a:ext uri="{FF2B5EF4-FFF2-40B4-BE49-F238E27FC236}">
                <a16:creationId xmlns:a16="http://schemas.microsoft.com/office/drawing/2014/main" id="{0A69DFB9-E1E8-2A6C-72CC-F036252982A7}"/>
              </a:ext>
            </a:extLst>
          </p:cNvPr>
          <p:cNvSpPr txBox="1"/>
          <p:nvPr/>
        </p:nvSpPr>
        <p:spPr>
          <a:xfrm>
            <a:off x="9125985" y="2515178"/>
            <a:ext cx="280439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solidFill>
                  <a:srgbClr val="E7E6E6"/>
                </a:solidFill>
                <a:ea typeface="Calibri"/>
                <a:cs typeface="Calibri"/>
              </a:rPr>
              <a:t>Tushar Sharma</a:t>
            </a:r>
            <a:endParaRPr lang="en-US">
              <a:ea typeface="Calibri"/>
              <a:cs typeface="Calibri"/>
            </a:endParaRPr>
          </a:p>
          <a:p>
            <a:pPr algn="r"/>
            <a:r>
              <a:rPr lang="en-US">
                <a:solidFill>
                  <a:srgbClr val="E7E6E6"/>
                </a:solidFill>
                <a:ea typeface="Calibri"/>
                <a:cs typeface="Calibri"/>
              </a:rPr>
              <a:t>Nishit Singh</a:t>
            </a:r>
            <a:endParaRPr lang="en-US">
              <a:ea typeface="Calibri"/>
              <a:cs typeface="Calibri"/>
            </a:endParaRPr>
          </a:p>
          <a:p>
            <a:pPr algn="r"/>
            <a:r>
              <a:rPr lang="en-US">
                <a:solidFill>
                  <a:srgbClr val="E7E6E6"/>
                </a:solidFill>
                <a:ea typeface="Calibri"/>
                <a:cs typeface="Calibri"/>
              </a:rPr>
              <a:t>Yash Chopra</a:t>
            </a:r>
            <a:endParaRPr lang="en-US">
              <a:ea typeface="Calibri"/>
              <a:cs typeface="Calibri"/>
            </a:endParaRPr>
          </a:p>
          <a:p>
            <a:pPr algn="r"/>
            <a:r>
              <a:rPr lang="en-US">
                <a:solidFill>
                  <a:srgbClr val="E7E6E6"/>
                </a:solidFill>
                <a:ea typeface="Calibri"/>
                <a:cs typeface="Calibri"/>
              </a:rPr>
              <a:t>Shubham Parikh</a:t>
            </a:r>
            <a:endParaRPr lang="en-US">
              <a:ea typeface="Calibri"/>
              <a:cs typeface="Calibri"/>
            </a:endParaRPr>
          </a:p>
          <a:p>
            <a:pPr algn="l"/>
            <a:endParaRPr lang="en-US" dirty="0">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31</cp:revision>
  <dcterms:created xsi:type="dcterms:W3CDTF">2026-08-08T08:15:00Z</dcterms:created>
  <dcterms:modified xsi:type="dcterms:W3CDTF">2026-08-08T11:46:27Z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DD2577C6FE8B40348E0655A36232E153_12</vt:lpwstr>
  </property>
</Properties>
</file>